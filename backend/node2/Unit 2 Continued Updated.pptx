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54"/>
  </p:notesMasterIdLst>
  <p:sldIdLst>
    <p:sldId id="291" r:id="rId2"/>
    <p:sldId id="257" r:id="rId3"/>
    <p:sldId id="258" r:id="rId4"/>
    <p:sldId id="290" r:id="rId5"/>
    <p:sldId id="260" r:id="rId6"/>
    <p:sldId id="292" r:id="rId7"/>
    <p:sldId id="262" r:id="rId8"/>
    <p:sldId id="286" r:id="rId9"/>
    <p:sldId id="287" r:id="rId10"/>
    <p:sldId id="288" r:id="rId11"/>
    <p:sldId id="293" r:id="rId12"/>
    <p:sldId id="266" r:id="rId13"/>
    <p:sldId id="264" r:id="rId14"/>
    <p:sldId id="265" r:id="rId15"/>
    <p:sldId id="283" r:id="rId16"/>
    <p:sldId id="284" r:id="rId17"/>
    <p:sldId id="285" r:id="rId18"/>
    <p:sldId id="294" r:id="rId19"/>
    <p:sldId id="268" r:id="rId20"/>
    <p:sldId id="269" r:id="rId21"/>
    <p:sldId id="282" r:id="rId22"/>
    <p:sldId id="270" r:id="rId23"/>
    <p:sldId id="279" r:id="rId24"/>
    <p:sldId id="280" r:id="rId25"/>
    <p:sldId id="281" r:id="rId26"/>
    <p:sldId id="271" r:id="rId27"/>
    <p:sldId id="272" r:id="rId28"/>
    <p:sldId id="273" r:id="rId29"/>
    <p:sldId id="278" r:id="rId30"/>
    <p:sldId id="274" r:id="rId31"/>
    <p:sldId id="276" r:id="rId32"/>
    <p:sldId id="275" r:id="rId33"/>
    <p:sldId id="277" r:id="rId34"/>
    <p:sldId id="297" r:id="rId35"/>
    <p:sldId id="295" r:id="rId36"/>
    <p:sldId id="296" r:id="rId37"/>
    <p:sldId id="299" r:id="rId38"/>
    <p:sldId id="300" r:id="rId39"/>
    <p:sldId id="301" r:id="rId40"/>
    <p:sldId id="302" r:id="rId41"/>
    <p:sldId id="303" r:id="rId42"/>
    <p:sldId id="304" r:id="rId43"/>
    <p:sldId id="305" r:id="rId44"/>
    <p:sldId id="306" r:id="rId45"/>
    <p:sldId id="313" r:id="rId46"/>
    <p:sldId id="307" r:id="rId47"/>
    <p:sldId id="309" r:id="rId48"/>
    <p:sldId id="310" r:id="rId49"/>
    <p:sldId id="311" r:id="rId50"/>
    <p:sldId id="312" r:id="rId51"/>
    <p:sldId id="314" r:id="rId52"/>
    <p:sldId id="308"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C96876-59AA-41A6-AD33-B8669FFEB01F}" type="datetimeFigureOut">
              <a:rPr lang="en-US" smtClean="0"/>
              <a:pPr/>
              <a:t>9/29/2023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7CA57B7-1F36-4280-B99C-99129B7F27F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44213AF-26F6-41FA-8D85-E2C5388D6E58}" type="datetimeFigureOut">
              <a:rPr lang="en-US" smtClean="0"/>
              <a:pPr/>
              <a:t>9/29/2023</a:t>
            </a:fld>
            <a:endParaRPr lang="en-US" dirty="0">
              <a:solidFill>
                <a:srgbClr val="FFFFFF"/>
              </a:solidFill>
            </a:endParaRPr>
          </a:p>
        </p:txBody>
      </p:sp>
      <p:sp>
        <p:nvSpPr>
          <p:cNvPr id="19" name="Footer Placeholder 18"/>
          <p:cNvSpPr>
            <a:spLocks noGrp="1"/>
          </p:cNvSpPr>
          <p:nvPr>
            <p:ph type="ftr" sz="quarter" idx="11"/>
          </p:nvPr>
        </p:nvSpPr>
        <p:spPr/>
        <p:txBody>
          <a:bodyPr/>
          <a:lstStyle/>
          <a:p>
            <a:endParaRPr kumimoji="0" lang="en-US">
              <a:solidFill>
                <a:schemeClr val="accent1">
                  <a:tint val="20000"/>
                </a:schemeClr>
              </a:solidFill>
            </a:endParaRPr>
          </a:p>
        </p:txBody>
      </p:sp>
      <p:sp>
        <p:nvSpPr>
          <p:cNvPr id="27" name="Slide Number Placeholder 26"/>
          <p:cNvSpPr>
            <a:spLocks noGrp="1"/>
          </p:cNvSpPr>
          <p:nvPr>
            <p:ph type="sldNum" sz="quarter" idx="12"/>
          </p:nvPr>
        </p:nvSpPr>
        <p:spPr/>
        <p:txBody>
          <a:bodyPr/>
          <a:lstStyle/>
          <a:p>
            <a:fld id="{D5BBC35B-A44B-4119-B8DA-DE9E3DFADA20}" type="slidenum">
              <a:rPr kumimoji="0" lang="en-US" smtClean="0"/>
              <a:pPr/>
              <a:t>‹#›</a:t>
            </a:fld>
            <a:endParaRPr kumimoji="0" lang="en-US"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5BD9E34-B82D-4217-80D1-F526E0FB19FF}" type="datetimeFigureOut">
              <a:rPr lang="en-US" smtClean="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7A733E-2BA7-4227-9856-8114FD19A1F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5BD9E34-B82D-4217-80D1-F526E0FB19FF}" type="datetimeFigureOut">
              <a:rPr lang="en-US" smtClean="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7A733E-2BA7-4227-9856-8114FD19A1F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5BD9E34-B82D-4217-80D1-F526E0FB19FF}" type="datetimeFigureOut">
              <a:rPr lang="en-US" smtClean="0"/>
              <a:pPr/>
              <a:t>9/29/2023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7A733E-2BA7-4227-9856-8114FD19A1F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5BD9E34-B82D-4217-80D1-F526E0FB19FF}" type="datetimeFigureOut">
              <a:rPr lang="en-US" smtClean="0"/>
              <a:pPr/>
              <a:t>9/29/2023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7A733E-2BA7-4227-9856-8114FD19A1F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5BD9E34-B82D-4217-80D1-F526E0FB19FF}" type="datetimeFigureOut">
              <a:rPr lang="en-US" smtClean="0"/>
              <a:pPr/>
              <a:t>9/29/2023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7A733E-2BA7-4227-9856-8114FD19A1F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BD9E34-B82D-4217-80D1-F526E0FB19FF}" type="datetimeFigureOut">
              <a:rPr lang="en-US" smtClean="0"/>
              <a:pPr/>
              <a:t>9/29/2023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7A733E-2BA7-4227-9856-8114FD19A1F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5BD9E34-B82D-4217-80D1-F526E0FB19FF}" type="datetimeFigureOut">
              <a:rPr lang="en-US" smtClean="0"/>
              <a:pPr/>
              <a:t>9/29/2023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7A733E-2BA7-4227-9856-8114FD19A1F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5BD9E34-B82D-4217-80D1-F526E0FB19FF}" type="datetimeFigureOut">
              <a:rPr lang="en-US" smtClean="0"/>
              <a:pPr/>
              <a:t>9/29/2023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167A733E-2BA7-4227-9856-8114FD19A1F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5BD9E34-B82D-4217-80D1-F526E0FB19FF}" type="datetimeFigureOut">
              <a:rPr lang="en-US" smtClean="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7A733E-2BA7-4227-9856-8114FD19A1F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5BD9E34-B82D-4217-80D1-F526E0FB19FF}" type="datetimeFigureOut">
              <a:rPr lang="en-US" smtClean="0"/>
              <a:pPr/>
              <a:t>9/29/2023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7A733E-2BA7-4227-9856-8114FD19A1F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5BD9E34-B82D-4217-80D1-F526E0FB19FF}" type="datetimeFigureOut">
              <a:rPr lang="en-US" smtClean="0"/>
              <a:pPr/>
              <a:t>9/29/2023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67A733E-2BA7-4227-9856-8114FD19A1F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Write a Program to calculate Fibonacci series up to the given limit n, print the result to the console.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295400" y="2133600"/>
            <a:ext cx="5867400" cy="3733800"/>
          </a:xfrm>
          <a:prstGeom prst="rect">
            <a:avLst/>
          </a:prstGeom>
          <a:noFill/>
          <a:ln w="9525">
            <a:noFill/>
            <a:miter lim="800000"/>
            <a:headEnd/>
            <a:tailEnd/>
          </a:ln>
          <a:effectLst/>
        </p:spPr>
      </p:pic>
      <p:sp>
        <p:nvSpPr>
          <p:cNvPr id="4" name="Title 3"/>
          <p:cNvSpPr>
            <a:spLocks noGrp="1"/>
          </p:cNvSpPr>
          <p:nvPr>
            <p:ph type="title"/>
          </p:nvPr>
        </p:nvSpPr>
        <p:spPr>
          <a:xfrm>
            <a:off x="457200" y="1066800"/>
            <a:ext cx="7772400" cy="740664"/>
          </a:xfrm>
        </p:spPr>
        <p:txBody>
          <a:bodyPr/>
          <a:lstStyle/>
          <a:p>
            <a:r>
              <a:rPr smtClean="0"/>
              <a:t>Contd</a:t>
            </a:r>
            <a:r>
              <a:rPr lang="en-US" dirty="0" smtClean="0"/>
              <a: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664464"/>
          </a:xfrm>
        </p:spPr>
        <p:txBody>
          <a:bodyPr/>
          <a:lstStyle/>
          <a:p>
            <a:r>
              <a:rPr smtClean="0"/>
              <a:t>Contd</a:t>
            </a:r>
            <a:r>
              <a:rPr lang="en-US" dirty="0" smtClean="0"/>
              <a:t>…</a:t>
            </a:r>
            <a:endParaRPr lang="en-US" dirty="0"/>
          </a:p>
        </p:txBody>
      </p:sp>
      <p:pic>
        <p:nvPicPr>
          <p:cNvPr id="2050" name="Picture 2"/>
          <p:cNvPicPr>
            <a:picLocks noChangeAspect="1" noChangeArrowheads="1"/>
          </p:cNvPicPr>
          <p:nvPr/>
        </p:nvPicPr>
        <p:blipFill>
          <a:blip r:embed="rId2"/>
          <a:srcRect/>
          <a:stretch>
            <a:fillRect/>
          </a:stretch>
        </p:blipFill>
        <p:spPr bwMode="auto">
          <a:xfrm>
            <a:off x="2438400" y="2513013"/>
            <a:ext cx="3962400" cy="27447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US" dirty="0"/>
          </a:p>
        </p:txBody>
      </p:sp>
      <p:sp>
        <p:nvSpPr>
          <p:cNvPr id="3" name="Content Placeholder 2"/>
          <p:cNvSpPr>
            <a:spLocks noGrp="1"/>
          </p:cNvSpPr>
          <p:nvPr>
            <p:ph idx="1"/>
          </p:nvPr>
        </p:nvSpPr>
        <p:spPr/>
        <p:txBody>
          <a:bodyPr/>
          <a:lstStyle/>
          <a:p>
            <a:r>
              <a:rPr lang="en-US" dirty="0" smtClean="0"/>
              <a:t>Write a Program to Check whether a given input character is a vowel, or a consonant or not an alphabet.</a:t>
            </a:r>
          </a:p>
          <a:p>
            <a:r>
              <a:rPr lang="en-US" dirty="0" smtClean="0"/>
              <a:t>Print the Result to the console</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lstStyle/>
          <a:p>
            <a:r>
              <a:rPr lang="en-US" dirty="0" err="1" smtClean="0"/>
              <a:t>Contd</a:t>
            </a:r>
            <a:r>
              <a:rPr lang="en-US" dirty="0" smtClean="0"/>
              <a:t>…</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990600" y="1981200"/>
            <a:ext cx="685800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Write a program to print the sum of digits of a number.</a:t>
            </a:r>
          </a:p>
          <a:p>
            <a:endParaRPr lang="en-US" dirty="0" smtClean="0"/>
          </a:p>
          <a:p>
            <a:r>
              <a:rPr lang="en-US" dirty="0" smtClean="0"/>
              <a:t>For example: 1234 is a number, then the sum of digits is 1+2+3+4=10</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990600"/>
          </a:xfrm>
        </p:spPr>
        <p:txBody>
          <a:bodyPr/>
          <a:lstStyle/>
          <a:p>
            <a:r>
              <a:rPr lang="en-US" dirty="0" err="1" smtClean="0"/>
              <a:t>Contd</a:t>
            </a:r>
            <a:r>
              <a:rPr lang="en-US" dirty="0" smtClean="0"/>
              <a:t>…</a:t>
            </a:r>
            <a:endParaRPr lang="en-US" dirty="0"/>
          </a:p>
        </p:txBody>
      </p:sp>
      <p:pic>
        <p:nvPicPr>
          <p:cNvPr id="6146" name="Picture 2"/>
          <p:cNvPicPr>
            <a:picLocks noGrp="1" noChangeAspect="1" noChangeArrowheads="1"/>
          </p:cNvPicPr>
          <p:nvPr>
            <p:ph idx="1"/>
          </p:nvPr>
        </p:nvPicPr>
        <p:blipFill>
          <a:blip r:embed="rId2"/>
          <a:srcRect/>
          <a:stretch>
            <a:fillRect/>
          </a:stretch>
        </p:blipFill>
        <p:spPr bwMode="auto">
          <a:xfrm>
            <a:off x="1524000" y="2514600"/>
            <a:ext cx="5638800"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Input</a:t>
            </a:r>
            <a:r>
              <a:rPr lang="en-US" dirty="0" smtClean="0"/>
              <a:t>:</a:t>
            </a:r>
          </a:p>
          <a:p>
            <a:pPr lvl="1"/>
            <a:r>
              <a:rPr lang="en-US" b="1" dirty="0" smtClean="0"/>
              <a:t>num = </a:t>
            </a:r>
            <a:r>
              <a:rPr lang="en-US" b="1" dirty="0" err="1" smtClean="0"/>
              <a:t>int</a:t>
            </a:r>
            <a:r>
              <a:rPr lang="en-US" b="1" dirty="0" smtClean="0"/>
              <a:t>(input("num: ")):- </a:t>
            </a:r>
            <a:r>
              <a:rPr lang="en-US" dirty="0" smtClean="0"/>
              <a:t>takes user input and stores it in the variable num. The user is prompted to enter an integer.</a:t>
            </a:r>
          </a:p>
          <a:p>
            <a:r>
              <a:rPr lang="en-US" b="1" dirty="0" smtClean="0"/>
              <a:t>Variable Initialization</a:t>
            </a:r>
            <a:r>
              <a:rPr lang="en-US" dirty="0" smtClean="0"/>
              <a:t>:</a:t>
            </a:r>
          </a:p>
          <a:p>
            <a:pPr lvl="1"/>
            <a:r>
              <a:rPr lang="en-US" b="1" dirty="0" smtClean="0"/>
              <a:t>sum = 0: </a:t>
            </a:r>
            <a:r>
              <a:rPr lang="en-US" dirty="0" smtClean="0"/>
              <a:t>Initialize a variable sum to 0. This variable will be used to store the sum of the digits.</a:t>
            </a:r>
          </a:p>
          <a:p>
            <a:pPr lvl="1"/>
            <a:r>
              <a:rPr lang="en-US" b="1" dirty="0" smtClean="0"/>
              <a:t>temp = num: </a:t>
            </a:r>
            <a:r>
              <a:rPr lang="en-US" dirty="0" smtClean="0"/>
              <a:t>Create a temporary variable temp and set it equal to the value of num. This is done to preserve the original value of num for later use.</a:t>
            </a:r>
          </a:p>
          <a:p>
            <a:r>
              <a:rPr lang="en-US" b="1" dirty="0" smtClean="0"/>
              <a:t>While Loop</a:t>
            </a:r>
            <a:r>
              <a:rPr lang="en-US" dirty="0" smtClean="0"/>
              <a:t>:</a:t>
            </a:r>
          </a:p>
          <a:p>
            <a:pPr lvl="1"/>
            <a:r>
              <a:rPr lang="en-US" b="1" dirty="0" smtClean="0"/>
              <a:t>while(num)</a:t>
            </a:r>
            <a:r>
              <a:rPr lang="en-US" dirty="0" smtClean="0"/>
              <a:t>:- This is a while loop that runs as long as num is not equal to 0. It iterates through the digits of the number one at a time.</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smtClean="0"/>
              <a:t>Inside the Loop</a:t>
            </a:r>
            <a:r>
              <a:rPr lang="en-US" dirty="0" smtClean="0"/>
              <a:t>:</a:t>
            </a:r>
          </a:p>
          <a:p>
            <a:pPr lvl="1"/>
            <a:r>
              <a:rPr lang="en-US" b="1" dirty="0" smtClean="0"/>
              <a:t>sum = sum + (num % 10): 	</a:t>
            </a:r>
            <a:r>
              <a:rPr lang="en-US" dirty="0" smtClean="0"/>
              <a:t>In each iteration, the program takes the last digit of num by using the modulo operator % with 10 (num % 10). This operation extracts the rightmost digit of num.</a:t>
            </a:r>
          </a:p>
          <a:p>
            <a:pPr lvl="1"/>
            <a:r>
              <a:rPr lang="en-US" dirty="0" smtClean="0"/>
              <a:t>The extracted digit is added to the sum. This step accumulates the sum of all the digits.</a:t>
            </a:r>
          </a:p>
          <a:p>
            <a:pPr lvl="1"/>
            <a:r>
              <a:rPr lang="en-US" b="1" dirty="0" smtClean="0"/>
              <a:t>num = num // 10: </a:t>
            </a:r>
            <a:r>
              <a:rPr lang="en-US" dirty="0" smtClean="0"/>
              <a:t>After extracting the rightmost digit, it is removed from num by performing integer division by 10 (num // 10). This shifts the number one place to the right, effectively eliminating the last digit.</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b="1" dirty="0" smtClean="0"/>
              <a:t>Printing the Sum</a:t>
            </a:r>
            <a:r>
              <a:rPr lang="en-US" dirty="0" smtClean="0"/>
              <a:t>:</a:t>
            </a:r>
          </a:p>
          <a:p>
            <a:pPr lvl="1"/>
            <a:r>
              <a:rPr lang="en-US" b="1" dirty="0" smtClean="0"/>
              <a:t>print("sum:", sum): </a:t>
            </a:r>
            <a:r>
              <a:rPr lang="en-US" dirty="0" smtClean="0"/>
              <a:t>Once the while loop has processed all the digits of the original number, it prints the sum of those digits.</a:t>
            </a:r>
          </a:p>
          <a:p>
            <a:r>
              <a:rPr lang="en-US" dirty="0" smtClean="0"/>
              <a:t>We breaks down the input number into its individual digits, adds them together, and prints the sum. </a:t>
            </a:r>
          </a:p>
          <a:p>
            <a:r>
              <a:rPr lang="en-US" dirty="0" smtClean="0"/>
              <a:t>This is done by repeatedly extracting the rightmost digit using modulo and then removing it from the number by performing integer division by 10.</a:t>
            </a:r>
          </a:p>
          <a:p>
            <a:r>
              <a:rPr lang="en-US" dirty="0" smtClean="0"/>
              <a:t>This process continues until all digits have been processed, and the sum is calculated.</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533400" y="1981200"/>
            <a:ext cx="8229600" cy="4389120"/>
          </a:xfrm>
        </p:spPr>
        <p:txBody>
          <a:bodyPr/>
          <a:lstStyle/>
          <a:p>
            <a:r>
              <a:rPr lang="en-US" dirty="0" smtClean="0"/>
              <a:t>Write a Program to print Pascal’s triangle of n rows.</a:t>
            </a:r>
            <a:endParaRPr lang="en-US" dirty="0"/>
          </a:p>
        </p:txBody>
      </p:sp>
      <p:pic>
        <p:nvPicPr>
          <p:cNvPr id="2050" name="Picture 2"/>
          <p:cNvPicPr>
            <a:picLocks noChangeAspect="1" noChangeArrowheads="1"/>
          </p:cNvPicPr>
          <p:nvPr/>
        </p:nvPicPr>
        <p:blipFill>
          <a:blip r:embed="rId2"/>
          <a:srcRect/>
          <a:stretch>
            <a:fillRect/>
          </a:stretch>
        </p:blipFill>
        <p:spPr bwMode="auto">
          <a:xfrm>
            <a:off x="2819400" y="3200400"/>
            <a:ext cx="2438400" cy="2362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lstStyle/>
          <a:p>
            <a:pPr algn="just"/>
            <a:r>
              <a:rPr lang="en-US" dirty="0" smtClean="0"/>
              <a:t>Pascal's Triangle is a triangular array of numbers in mathematics with many interesting properties and applications. </a:t>
            </a:r>
          </a:p>
          <a:p>
            <a:r>
              <a:rPr lang="en-US" dirty="0" smtClean="0"/>
              <a:t>To construct Pascal's Triangle:</a:t>
            </a:r>
          </a:p>
          <a:p>
            <a:pPr>
              <a:buNone/>
            </a:pPr>
            <a:r>
              <a:rPr lang="en-US" dirty="0" smtClean="0"/>
              <a:t>		1. Start with the number 1 at the top.</a:t>
            </a:r>
          </a:p>
          <a:p>
            <a:pPr>
              <a:buNone/>
            </a:pPr>
            <a:r>
              <a:rPr lang="en-US" dirty="0" smtClean="0"/>
              <a:t>		2. In each subsequent row, place a 1 on both ends.</a:t>
            </a:r>
          </a:p>
          <a:p>
            <a:pPr>
              <a:buNone/>
            </a:pPr>
            <a:r>
              <a:rPr lang="en-US" dirty="0" smtClean="0"/>
              <a:t>		3. To calculate the numbers in the interior of the 	row, add the two numbers directly above them 	from the previous row.</a:t>
            </a:r>
          </a:p>
          <a:p>
            <a:pPr algn="just"/>
            <a:endParaRPr lang="en-US"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8195" name="Picture 3"/>
          <p:cNvPicPr>
            <a:picLocks noGrp="1" noChangeAspect="1" noChangeArrowheads="1"/>
          </p:cNvPicPr>
          <p:nvPr>
            <p:ph idx="1"/>
          </p:nvPr>
        </p:nvPicPr>
        <p:blipFill>
          <a:blip r:embed="rId2"/>
          <a:srcRect/>
          <a:stretch>
            <a:fillRect/>
          </a:stretch>
        </p:blipFill>
        <p:spPr bwMode="auto">
          <a:xfrm>
            <a:off x="755953" y="2438400"/>
            <a:ext cx="6787847" cy="3276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9219" name="Picture 3"/>
          <p:cNvPicPr>
            <a:picLocks noGrp="1" noChangeAspect="1" noChangeArrowheads="1"/>
          </p:cNvPicPr>
          <p:nvPr>
            <p:ph idx="1"/>
          </p:nvPr>
        </p:nvPicPr>
        <p:blipFill>
          <a:blip r:embed="rId2"/>
          <a:srcRect/>
          <a:stretch>
            <a:fillRect/>
          </a:stretch>
        </p:blipFill>
        <p:spPr bwMode="auto">
          <a:xfrm>
            <a:off x="1066800" y="2590800"/>
            <a:ext cx="6553200" cy="3352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Input:</a:t>
            </a:r>
          </a:p>
          <a:p>
            <a:pPr lvl="1"/>
            <a:r>
              <a:rPr lang="en-US" b="1" dirty="0" smtClean="0"/>
              <a:t>rows = </a:t>
            </a:r>
            <a:r>
              <a:rPr lang="en-US" b="1" dirty="0" err="1" smtClean="0"/>
              <a:t>int</a:t>
            </a:r>
            <a:r>
              <a:rPr lang="en-US" b="1" dirty="0" smtClean="0"/>
              <a:t>(input("rows: ")): </a:t>
            </a:r>
            <a:r>
              <a:rPr lang="en-US" dirty="0" smtClean="0"/>
              <a:t>This line takes user input to determine the number of rows to be printed in Pascal's Triangle.</a:t>
            </a:r>
          </a:p>
          <a:p>
            <a:r>
              <a:rPr lang="en-US" dirty="0" smtClean="0"/>
              <a:t>Outer Loop:</a:t>
            </a:r>
          </a:p>
          <a:p>
            <a:pPr lvl="1"/>
            <a:r>
              <a:rPr lang="en-US" b="1" dirty="0" smtClean="0"/>
              <a:t>for index in range(0, rows)</a:t>
            </a:r>
            <a:r>
              <a:rPr lang="en-US" dirty="0" smtClean="0"/>
              <a:t>:- This is an outer loop that iterates through the rows of Pascal's Triangle. The loop runs from 0 to rows-1.</a:t>
            </a:r>
          </a:p>
          <a:p>
            <a:r>
              <a:rPr lang="en-US" dirty="0" smtClean="0"/>
              <a:t>Printing Leading Spaces:</a:t>
            </a:r>
          </a:p>
          <a:p>
            <a:pPr lvl="1"/>
            <a:r>
              <a:rPr lang="en-US" b="1" dirty="0" smtClean="0"/>
              <a:t>for spaces in range(rows, index, -1):-  </a:t>
            </a:r>
            <a:r>
              <a:rPr lang="en-US" dirty="0" smtClean="0"/>
              <a:t>This loop is used to print leading spaces before each row. The number of leading spaces decreases as we move down the rows, and it ensures that the triangle is centered when printed.</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09600"/>
          </a:xfrm>
        </p:spPr>
        <p:txBody>
          <a:bodyPr>
            <a:normAutofit fontScale="90000"/>
          </a:bodyPr>
          <a:lstStyle/>
          <a:p>
            <a:r>
              <a:rPr lang="en-US" dirty="0" err="1" smtClean="0"/>
              <a:t>Contd</a:t>
            </a:r>
            <a:r>
              <a:rPr lang="en-US" dirty="0" smtClean="0"/>
              <a:t>…</a:t>
            </a:r>
            <a:endParaRPr lang="en-US" dirty="0"/>
          </a:p>
        </p:txBody>
      </p:sp>
      <p:sp>
        <p:nvSpPr>
          <p:cNvPr id="3" name="Content Placeholder 2"/>
          <p:cNvSpPr>
            <a:spLocks noGrp="1"/>
          </p:cNvSpPr>
          <p:nvPr>
            <p:ph idx="1"/>
          </p:nvPr>
        </p:nvSpPr>
        <p:spPr>
          <a:xfrm>
            <a:off x="457200" y="1219200"/>
            <a:ext cx="8229600" cy="5105400"/>
          </a:xfrm>
        </p:spPr>
        <p:txBody>
          <a:bodyPr>
            <a:normAutofit lnSpcReduction="10000"/>
          </a:bodyPr>
          <a:lstStyle/>
          <a:p>
            <a:r>
              <a:rPr lang="en-US" dirty="0" smtClean="0"/>
              <a:t>Number Calculation and Printing:</a:t>
            </a:r>
          </a:p>
          <a:p>
            <a:pPr lvl="1"/>
            <a:r>
              <a:rPr lang="en-US" b="1" dirty="0" smtClean="0"/>
              <a:t>number = 1: </a:t>
            </a:r>
          </a:p>
          <a:p>
            <a:pPr lvl="2">
              <a:buNone/>
            </a:pPr>
            <a:r>
              <a:rPr lang="en-US" b="1" dirty="0" smtClean="0"/>
              <a:t>	</a:t>
            </a:r>
            <a:r>
              <a:rPr lang="en-US" dirty="0" smtClean="0"/>
              <a:t>Initialize a variable number to 1. This variable will store the values to be printed in each row of the triangle.</a:t>
            </a:r>
          </a:p>
          <a:p>
            <a:pPr lvl="1"/>
            <a:r>
              <a:rPr lang="en-US" b="1" dirty="0" smtClean="0"/>
              <a:t>for </a:t>
            </a:r>
            <a:r>
              <a:rPr lang="en-US" b="1" dirty="0" err="1" smtClean="0"/>
              <a:t>col</a:t>
            </a:r>
            <a:r>
              <a:rPr lang="en-US" b="1" dirty="0" smtClean="0"/>
              <a:t> in range(0, index + 1):- </a:t>
            </a:r>
            <a:r>
              <a:rPr lang="en-US" dirty="0" smtClean="0"/>
              <a:t>This loop is used to calculate and print the numbers in the current row of Pascal's Triangle.</a:t>
            </a:r>
          </a:p>
          <a:p>
            <a:pPr lvl="2"/>
            <a:r>
              <a:rPr lang="en-US" b="1" dirty="0" smtClean="0"/>
              <a:t>print("%d " % number, end = ''): </a:t>
            </a:r>
            <a:r>
              <a:rPr lang="en-US" dirty="0" smtClean="0"/>
              <a:t>Prints the current value of number followed by a space. </a:t>
            </a:r>
          </a:p>
          <a:p>
            <a:pPr lvl="2"/>
            <a:r>
              <a:rPr lang="en-US" dirty="0" smtClean="0"/>
              <a:t>The </a:t>
            </a:r>
            <a:r>
              <a:rPr lang="en-US" b="1" dirty="0" smtClean="0"/>
              <a:t>end =</a:t>
            </a:r>
            <a:r>
              <a:rPr lang="en-US" dirty="0" smtClean="0"/>
              <a:t> '' argument is used to prevent the print function from adding a newline after each number.</a:t>
            </a:r>
          </a:p>
          <a:p>
            <a:pPr lvl="2"/>
            <a:r>
              <a:rPr lang="en-US" b="1" dirty="0" smtClean="0"/>
              <a:t>number = number * (index - </a:t>
            </a:r>
            <a:r>
              <a:rPr lang="en-US" b="1" dirty="0" err="1" smtClean="0"/>
              <a:t>col</a:t>
            </a:r>
            <a:r>
              <a:rPr lang="en-US" b="1" dirty="0" smtClean="0"/>
              <a:t>) / (</a:t>
            </a:r>
            <a:r>
              <a:rPr lang="en-US" b="1" dirty="0" err="1" smtClean="0"/>
              <a:t>col</a:t>
            </a:r>
            <a:r>
              <a:rPr lang="en-US" b="1" dirty="0" smtClean="0"/>
              <a:t> + 1): </a:t>
            </a:r>
            <a:r>
              <a:rPr lang="en-US" dirty="0" smtClean="0"/>
              <a:t>Calculates the next number in the row using the binomial coefficient formula. It takes into account the previous value of number, the current column </a:t>
            </a:r>
            <a:r>
              <a:rPr lang="en-US" dirty="0" err="1" smtClean="0"/>
              <a:t>col</a:t>
            </a:r>
            <a:r>
              <a:rPr lang="en-US" dirty="0" smtClean="0"/>
              <a:t>, and the current row index.</a:t>
            </a:r>
          </a:p>
          <a:p>
            <a:endParaRPr lang="en-US" dirty="0" smtClean="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a:bodyPr>
          <a:lstStyle/>
          <a:p>
            <a:r>
              <a:rPr lang="en-US" dirty="0" smtClean="0"/>
              <a:t>Print Newline:</a:t>
            </a:r>
          </a:p>
          <a:p>
            <a:pPr lvl="1"/>
            <a:r>
              <a:rPr lang="en-US" dirty="0" smtClean="0"/>
              <a:t>print(): After printing all the numbers in the current row, this line prints a newline character to move to the next row.</a:t>
            </a:r>
          </a:p>
          <a:p>
            <a:pPr lvl="1">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Take three inputs a, b, c as inputs. Write a program to find largest of given three numbers and print the result to the console.</a:t>
            </a:r>
          </a:p>
          <a:p>
            <a:endParaRPr lang="en-US" dirty="0" smtClean="0"/>
          </a:p>
          <a:p>
            <a:r>
              <a:rPr lang="en-US" dirty="0" smtClean="0"/>
              <a:t>Note: Use Split() function to </a:t>
            </a:r>
            <a:r>
              <a:rPr lang="en-US" dirty="0" err="1" smtClean="0"/>
              <a:t>saparate</a:t>
            </a:r>
            <a:r>
              <a:rPr lang="en-US" dirty="0" smtClean="0"/>
              <a:t> user given data based on (,)</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143000" y="2362200"/>
            <a:ext cx="6096000" cy="3276600"/>
          </a:xfrm>
          <a:prstGeom prst="rect">
            <a:avLst/>
          </a:prstGeom>
          <a:solidFill>
            <a:srgbClr val="FFFF00"/>
          </a:solidFill>
          <a:ln w="9525">
            <a:solidFill>
              <a:schemeClr val="tx2">
                <a:lumMod val="60000"/>
                <a:lumOff val="40000"/>
              </a:schemeClr>
            </a:solid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u="sng" dirty="0" smtClean="0"/>
              <a:t>Example</a:t>
            </a:r>
            <a:endParaRPr lang="en-US" u="sng" dirty="0"/>
          </a:p>
        </p:txBody>
      </p:sp>
      <p:sp>
        <p:nvSpPr>
          <p:cNvPr id="4" name="Content Placeholder 3"/>
          <p:cNvSpPr>
            <a:spLocks noGrp="1"/>
          </p:cNvSpPr>
          <p:nvPr>
            <p:ph idx="1"/>
          </p:nvPr>
        </p:nvSpPr>
        <p:spPr/>
        <p:txBody>
          <a:bodyPr/>
          <a:lstStyle/>
          <a:p>
            <a:r>
              <a:rPr lang="en-US" dirty="0" smtClean="0"/>
              <a:t>Write a program to find whether a number is Prime of not.</a:t>
            </a:r>
          </a:p>
          <a:p>
            <a:endParaRPr lang="en-US" dirty="0" smtClean="0"/>
          </a:p>
          <a:p>
            <a:r>
              <a:rPr lang="en-US" b="1" u="sng" dirty="0" smtClean="0"/>
              <a:t>Prime Number:</a:t>
            </a:r>
          </a:p>
          <a:p>
            <a:pPr>
              <a:buNone/>
            </a:pPr>
            <a:r>
              <a:rPr lang="en-US" dirty="0" smtClean="0"/>
              <a:t>	A prime number is a natural number greater than 1 that has no positive divisors other than 1 and itself.</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a:bodyPr>
          <a:lstStyle/>
          <a:p>
            <a:pPr>
              <a:buNone/>
            </a:pPr>
            <a:r>
              <a:rPr lang="en-US" b="1" dirty="0" smtClean="0"/>
              <a:t>Hint:-</a:t>
            </a:r>
          </a:p>
          <a:p>
            <a:r>
              <a:rPr lang="en-US" dirty="0" smtClean="0"/>
              <a:t>In the given program, it iterates through values of </a:t>
            </a:r>
            <a:r>
              <a:rPr lang="en-US" dirty="0" err="1" smtClean="0"/>
              <a:t>i</a:t>
            </a:r>
            <a:r>
              <a:rPr lang="en-US" dirty="0" smtClean="0"/>
              <a:t> from 2 to half of the input number and checks if any of these values evenly divide the input number. </a:t>
            </a:r>
          </a:p>
          <a:p>
            <a:r>
              <a:rPr lang="en-US" dirty="0" smtClean="0"/>
              <a:t>If any divisor is found, the number is not prime, and the program exits the loop. </a:t>
            </a:r>
          </a:p>
          <a:p>
            <a:r>
              <a:rPr lang="en-US" dirty="0" smtClean="0"/>
              <a:t>If no divisors are found, and the input number is greater than 1, it is considered a prime number.</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1143000" y="2286000"/>
            <a:ext cx="5943600"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Steps: </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smtClean="0"/>
              <a:t>Initialization</a:t>
            </a:r>
            <a:r>
              <a:rPr lang="en-US" dirty="0" smtClean="0"/>
              <a:t>:</a:t>
            </a:r>
          </a:p>
          <a:p>
            <a:pPr lvl="1"/>
            <a:r>
              <a:rPr lang="en-US" dirty="0" smtClean="0"/>
              <a:t>count = 0: This variable will be used to count the number of divisors found for the input number.</a:t>
            </a:r>
          </a:p>
          <a:p>
            <a:pPr lvl="1"/>
            <a:r>
              <a:rPr lang="en-US" dirty="0" err="1" smtClean="0"/>
              <a:t>i</a:t>
            </a:r>
            <a:r>
              <a:rPr lang="en-US" dirty="0" smtClean="0"/>
              <a:t> = 2: We start the loop with </a:t>
            </a:r>
            <a:r>
              <a:rPr lang="en-US" dirty="0" err="1" smtClean="0"/>
              <a:t>i</a:t>
            </a:r>
            <a:r>
              <a:rPr lang="en-US" dirty="0" smtClean="0"/>
              <a:t> initialized to 2, as 1 is not considered a prime number.</a:t>
            </a:r>
          </a:p>
          <a:p>
            <a:pPr lvl="1"/>
            <a:r>
              <a:rPr lang="en-US" dirty="0" smtClean="0"/>
              <a:t>num = </a:t>
            </a:r>
            <a:r>
              <a:rPr lang="en-US" dirty="0" err="1" smtClean="0"/>
              <a:t>int</a:t>
            </a:r>
            <a:r>
              <a:rPr lang="en-US" dirty="0" smtClean="0"/>
              <a:t>(input("num: ")): This line takes user input for the number to be checked.</a:t>
            </a:r>
          </a:p>
          <a:p>
            <a:r>
              <a:rPr lang="en-US" b="1" dirty="0" smtClean="0"/>
              <a:t>While Loop</a:t>
            </a:r>
            <a:r>
              <a:rPr lang="en-US" dirty="0" smtClean="0"/>
              <a:t>:</a:t>
            </a:r>
          </a:p>
          <a:p>
            <a:pPr lvl="1"/>
            <a:r>
              <a:rPr lang="en-US" dirty="0" smtClean="0"/>
              <a:t>while (</a:t>
            </a:r>
            <a:r>
              <a:rPr lang="en-US" dirty="0" err="1" smtClean="0"/>
              <a:t>i</a:t>
            </a:r>
            <a:r>
              <a:rPr lang="en-US" dirty="0" smtClean="0"/>
              <a:t> &lt;= (num / 2)):-</a:t>
            </a:r>
          </a:p>
          <a:p>
            <a:pPr lvl="1">
              <a:buNone/>
            </a:pPr>
            <a:r>
              <a:rPr lang="en-US" dirty="0" smtClean="0"/>
              <a:t>	 This loop runs as long as </a:t>
            </a:r>
            <a:r>
              <a:rPr lang="en-US" dirty="0" err="1" smtClean="0"/>
              <a:t>i</a:t>
            </a:r>
            <a:r>
              <a:rPr lang="en-US" dirty="0" smtClean="0"/>
              <a:t> is less than or equal to half of the input number. This is because, in the worst case, the largest factor of a number (other than itself) is at most half of the number.</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fontScale="70000" lnSpcReduction="20000"/>
          </a:bodyPr>
          <a:lstStyle/>
          <a:p>
            <a:r>
              <a:rPr lang="en-US" sz="2800" dirty="0" smtClean="0"/>
              <a:t>If Statement Inside the Loop:</a:t>
            </a:r>
          </a:p>
          <a:p>
            <a:pPr lvl="1"/>
            <a:r>
              <a:rPr lang="en-US" sz="2800" dirty="0" smtClean="0"/>
              <a:t>if ((num % </a:t>
            </a:r>
            <a:r>
              <a:rPr lang="en-US" sz="2800" dirty="0" err="1" smtClean="0"/>
              <a:t>i</a:t>
            </a:r>
            <a:r>
              <a:rPr lang="en-US" sz="2800" dirty="0" smtClean="0"/>
              <a:t>) == 0):-</a:t>
            </a:r>
          </a:p>
          <a:p>
            <a:pPr lvl="1">
              <a:buNone/>
            </a:pPr>
            <a:r>
              <a:rPr lang="en-US" sz="2800" dirty="0" smtClean="0"/>
              <a:t>	 This condition checks if num is divisible by </a:t>
            </a:r>
            <a:r>
              <a:rPr lang="en-US" sz="2800" dirty="0" err="1" smtClean="0"/>
              <a:t>i</a:t>
            </a:r>
            <a:r>
              <a:rPr lang="en-US" sz="2800" dirty="0" smtClean="0"/>
              <a:t> without leaving a remainder. If this condition is true, it means that </a:t>
            </a:r>
            <a:r>
              <a:rPr lang="en-US" sz="2800" dirty="0" err="1" smtClean="0"/>
              <a:t>i</a:t>
            </a:r>
            <a:r>
              <a:rPr lang="en-US" sz="2800" dirty="0" smtClean="0"/>
              <a:t> is a divisor of num, and the number is not prime.</a:t>
            </a:r>
          </a:p>
          <a:p>
            <a:pPr lvl="1">
              <a:buNone/>
            </a:pPr>
            <a:endParaRPr lang="en-US" sz="2800" dirty="0" smtClean="0"/>
          </a:p>
          <a:p>
            <a:pPr lvl="1"/>
            <a:r>
              <a:rPr lang="en-US" sz="2800" dirty="0" smtClean="0"/>
              <a:t>count = count + 1:  :- If </a:t>
            </a:r>
            <a:r>
              <a:rPr lang="en-US" sz="2800" dirty="0" err="1" smtClean="0"/>
              <a:t>i</a:t>
            </a:r>
            <a:r>
              <a:rPr lang="en-US" sz="2800" dirty="0" smtClean="0"/>
              <a:t> is a divisor, the count variable is incremented by 1 to keep track of the number of divisors found.</a:t>
            </a:r>
          </a:p>
          <a:p>
            <a:pPr lvl="1">
              <a:buNone/>
            </a:pPr>
            <a:endParaRPr lang="en-US" sz="2800" dirty="0" smtClean="0"/>
          </a:p>
          <a:p>
            <a:pPr lvl="1"/>
            <a:r>
              <a:rPr lang="en-US" sz="2800" dirty="0" smtClean="0"/>
              <a:t>break: The break statement is used to exit the loop as soon as a divisor is found. There is no need to continue checking other values of </a:t>
            </a:r>
            <a:r>
              <a:rPr lang="en-US" sz="2800" dirty="0" err="1" smtClean="0"/>
              <a:t>i</a:t>
            </a:r>
            <a:r>
              <a:rPr lang="en-US" sz="2800" dirty="0" smtClean="0"/>
              <a:t> once a divisor is found.</a:t>
            </a:r>
          </a:p>
          <a:p>
            <a:pPr>
              <a:buNone/>
            </a:pPr>
            <a:r>
              <a:rPr lang="en-US" sz="3400" dirty="0" smtClean="0"/>
              <a:t/>
            </a:r>
            <a:br>
              <a:rPr lang="en-US" sz="3400" dirty="0" smtClean="0"/>
            </a:br>
            <a:endParaRPr lang="en-US" sz="3400" dirty="0" smtClean="0"/>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dirty="0" smtClean="0"/>
              <a:t>After the Loop</a:t>
            </a:r>
            <a:r>
              <a:rPr lang="en-US" dirty="0" smtClean="0"/>
              <a:t>:</a:t>
            </a:r>
          </a:p>
          <a:p>
            <a:pPr lvl="1"/>
            <a:r>
              <a:rPr lang="en-US" dirty="0" smtClean="0"/>
              <a:t>if ((count == 0) and (num != 1)):</a:t>
            </a:r>
          </a:p>
          <a:p>
            <a:pPr lvl="2"/>
            <a:r>
              <a:rPr lang="en-US" dirty="0" smtClean="0"/>
              <a:t>This condition checks if count is still 0 (meaning no divisors were found) and if the num is not equal to 1. Prime numbers are defined as greater than 1, so this condition ensures that 1 is not considered prime.</a:t>
            </a:r>
          </a:p>
          <a:p>
            <a:pPr lvl="1"/>
            <a:r>
              <a:rPr lang="en-US" dirty="0" smtClean="0"/>
              <a:t>print("prime number"): If the condition is met, the program prints "prime number," indicating that the input number is prime.</a:t>
            </a:r>
          </a:p>
          <a:p>
            <a:pPr lvl="1"/>
            <a:r>
              <a:rPr lang="en-US" dirty="0" smtClean="0"/>
              <a:t>If the condition is not met (i.e., if count is not 0 or num is 1), the program prints "not a prime number," indicating that the input number is not prime.</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Armstrong Number</a:t>
            </a:r>
            <a:endParaRPr lang="en-US" b="1" u="sng" dirty="0"/>
          </a:p>
        </p:txBody>
      </p:sp>
      <p:pic>
        <p:nvPicPr>
          <p:cNvPr id="3074" name="Picture 2"/>
          <p:cNvPicPr>
            <a:picLocks noGrp="1" noChangeAspect="1" noChangeArrowheads="1"/>
          </p:cNvPicPr>
          <p:nvPr>
            <p:ph idx="1"/>
          </p:nvPr>
        </p:nvPicPr>
        <p:blipFill>
          <a:blip r:embed="rId2"/>
          <a:srcRect/>
          <a:stretch>
            <a:fillRect/>
          </a:stretch>
        </p:blipFill>
        <p:spPr bwMode="auto">
          <a:xfrm>
            <a:off x="533400" y="2590800"/>
            <a:ext cx="8001000" cy="281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4" name="Content Placeholder 3"/>
          <p:cNvSpPr>
            <a:spLocks noGrp="1"/>
          </p:cNvSpPr>
          <p:nvPr>
            <p:ph idx="1"/>
          </p:nvPr>
        </p:nvSpPr>
        <p:spPr/>
        <p:txBody>
          <a:bodyPr/>
          <a:lstStyle/>
          <a:p>
            <a:r>
              <a:rPr lang="en-US" dirty="0" smtClean="0"/>
              <a:t>Write a Program to find whether the given number is Armstrong number or not and print the result to the console.</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US" dirty="0" err="1" smtClean="0"/>
              <a:t>Contd</a:t>
            </a:r>
            <a:r>
              <a:rPr lang="en-US" dirty="0" smtClean="0"/>
              <a:t>…</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685801" y="1600200"/>
            <a:ext cx="7696200"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lstStyle/>
          <a:p>
            <a:pPr>
              <a:buNone/>
            </a:pPr>
            <a:r>
              <a:rPr lang="en-US" b="1" dirty="0" smtClean="0"/>
              <a:t>	Hint:-</a:t>
            </a:r>
          </a:p>
          <a:p>
            <a:pPr>
              <a:buNone/>
            </a:pPr>
            <a:r>
              <a:rPr lang="en-US" dirty="0" smtClean="0"/>
              <a:t>	In this program, we will extracts the digits of the input number, calculate the sum of each digit raised to the power of the number of digits, and compares the result with the original number to determine whether it's an Armstrong number or not.</a:t>
            </a:r>
          </a:p>
          <a:p>
            <a:pPr>
              <a:buNone/>
            </a:pP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219200"/>
            <a:ext cx="8458200" cy="685800"/>
          </a:xfrm>
        </p:spPr>
        <p:txBody>
          <a:bodyPr>
            <a:normAutofit fontScale="90000"/>
          </a:bodyPr>
          <a:lstStyle/>
          <a:p>
            <a:r>
              <a:rPr lang="en-US" dirty="0" err="1" smtClean="0"/>
              <a:t>Contd</a:t>
            </a:r>
            <a:r>
              <a:rPr lang="en-US" dirty="0" smtClean="0"/>
              <a:t>…</a:t>
            </a:r>
            <a:br>
              <a:rPr lang="en-US" dirty="0" smtClean="0"/>
            </a:br>
            <a:r>
              <a:rPr lang="en-US" dirty="0" smtClean="0"/>
              <a:t>			</a:t>
            </a:r>
            <a:r>
              <a:rPr lang="en-US" u="sng" dirty="0" smtClean="0"/>
              <a:t>Steps:</a:t>
            </a:r>
            <a:endParaRPr lang="en-US" u="sng" dirty="0"/>
          </a:p>
        </p:txBody>
      </p:sp>
      <p:sp>
        <p:nvSpPr>
          <p:cNvPr id="3" name="Content Placeholder 2"/>
          <p:cNvSpPr>
            <a:spLocks noGrp="1"/>
          </p:cNvSpPr>
          <p:nvPr>
            <p:ph idx="1"/>
          </p:nvPr>
        </p:nvSpPr>
        <p:spPr/>
        <p:txBody>
          <a:bodyPr>
            <a:normAutofit/>
          </a:bodyPr>
          <a:lstStyle/>
          <a:p>
            <a:r>
              <a:rPr lang="en-US" dirty="0" smtClean="0"/>
              <a:t>Initialize variables:</a:t>
            </a:r>
          </a:p>
          <a:p>
            <a:pPr lvl="1"/>
            <a:r>
              <a:rPr lang="en-US" dirty="0" smtClean="0"/>
              <a:t>digits: An empty list to store individual digits of the input number.</a:t>
            </a:r>
          </a:p>
          <a:p>
            <a:pPr lvl="1"/>
            <a:r>
              <a:rPr lang="en-US" dirty="0" smtClean="0"/>
              <a:t>sum1: A variable to store the sum of the digits raised to the power.</a:t>
            </a:r>
          </a:p>
          <a:p>
            <a:pPr lvl="1"/>
            <a:r>
              <a:rPr lang="en-US" dirty="0" smtClean="0"/>
              <a:t>temp: A temporary variable to hold a copy of the input number.</a:t>
            </a:r>
          </a:p>
          <a:p>
            <a:pPr lvl="1"/>
            <a:r>
              <a:rPr lang="en-US" dirty="0" smtClean="0"/>
              <a:t>number: Accepts user input as an integer.</a:t>
            </a:r>
          </a:p>
          <a:p>
            <a:pPr>
              <a:buNone/>
            </a:pP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temp = number: -makes a copy of the input number in the variable temp so that the original number can be preserved for comparison later.</a:t>
            </a:r>
          </a:p>
          <a:p>
            <a:endParaRPr lang="en-US" dirty="0" smtClean="0"/>
          </a:p>
          <a:p>
            <a:r>
              <a:rPr lang="en-US" dirty="0" smtClean="0"/>
              <a:t>while (temp != 0):- while loop that runs as long as temp is not equal to 0.</a:t>
            </a:r>
          </a:p>
          <a:p>
            <a:pPr>
              <a:buNone/>
            </a:pPr>
            <a:endParaRPr lang="en-US" dirty="0" smtClean="0"/>
          </a:p>
          <a:p>
            <a:pPr>
              <a:buNone/>
            </a:pPr>
            <a:r>
              <a:rPr lang="en-US" dirty="0" smtClean="0"/>
              <a:t>	 It extracts the digits of the number one at a time and appends them to the digits list.</a:t>
            </a:r>
          </a:p>
          <a:p>
            <a:pPr>
              <a:buNone/>
            </a:pPr>
            <a:endParaRPr lang="en-US" dirty="0" smtClean="0"/>
          </a:p>
          <a:p>
            <a:pPr>
              <a:buNone/>
            </a:pPr>
            <a:r>
              <a:rPr lang="en-US" dirty="0" smtClean="0"/>
              <a:t>	 It does this by repeatedly dividing temp by 10 and taking the remainder, which is the last digit of the number. </a:t>
            </a:r>
          </a:p>
          <a:p>
            <a:pPr>
              <a:buNone/>
            </a:pPr>
            <a:endParaRPr lang="en-US" dirty="0" smtClean="0"/>
          </a:p>
          <a:p>
            <a:pPr>
              <a:buNone/>
            </a:pPr>
            <a:r>
              <a:rPr lang="en-US" dirty="0" smtClean="0"/>
              <a:t>	The digit is then added to the digits list, and temp is updated by integer division by 10 to remove the last digit.</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power = </a:t>
            </a:r>
            <a:r>
              <a:rPr lang="en-US" dirty="0" err="1" smtClean="0"/>
              <a:t>len</a:t>
            </a:r>
            <a:r>
              <a:rPr lang="en-US" dirty="0" smtClean="0"/>
              <a:t>(digits):-</a:t>
            </a:r>
          </a:p>
          <a:p>
            <a:pPr>
              <a:buNone/>
            </a:pPr>
            <a:r>
              <a:rPr lang="en-US" dirty="0" smtClean="0"/>
              <a:t>	 After the loop, the power variable is set to the length of the digits list. This represents the number of digits in the original number.</a:t>
            </a:r>
          </a:p>
          <a:p>
            <a:endParaRPr lang="en-US" dirty="0" smtClean="0"/>
          </a:p>
          <a:p>
            <a:r>
              <a:rPr lang="en-US" dirty="0" smtClean="0"/>
              <a:t>for x in digits:- </a:t>
            </a:r>
          </a:p>
          <a:p>
            <a:pPr>
              <a:buNone/>
            </a:pPr>
            <a:r>
              <a:rPr lang="en-US" dirty="0" smtClean="0"/>
              <a:t>	This is a for loop that iterates through each digit in the digits list.</a:t>
            </a:r>
          </a:p>
          <a:p>
            <a:pPr>
              <a:buNone/>
            </a:pPr>
            <a:endParaRPr lang="en-US" dirty="0" smtClean="0"/>
          </a:p>
          <a:p>
            <a:r>
              <a:rPr lang="en-US" dirty="0" smtClean="0"/>
              <a:t>sum1 = sum1 + x ** power:-</a:t>
            </a:r>
          </a:p>
          <a:p>
            <a:pPr>
              <a:buNone/>
            </a:pPr>
            <a:r>
              <a:rPr lang="en-US" dirty="0" smtClean="0"/>
              <a:t>	 For each digit x, it raises x to the power of power and adds the result to the sum1 variable. This step calculates the sum of the digits raised to the power of the number of digits.</a:t>
            </a: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r>
              <a:rPr lang="en-US" dirty="0" smtClean="0"/>
              <a:t>print("sum of powers:", sum1):-</a:t>
            </a:r>
          </a:p>
          <a:p>
            <a:pPr>
              <a:buNone/>
            </a:pPr>
            <a:r>
              <a:rPr lang="en-US" dirty="0" smtClean="0"/>
              <a:t>	 prints the sum of the digits raised to the power of the number of digits.</a:t>
            </a:r>
          </a:p>
          <a:p>
            <a:endParaRPr lang="en-US" dirty="0" smtClean="0"/>
          </a:p>
          <a:p>
            <a:pPr>
              <a:buNone/>
            </a:pPr>
            <a:endParaRPr lang="en-US" dirty="0" smtClean="0"/>
          </a:p>
          <a:p>
            <a:r>
              <a:rPr lang="en-US" dirty="0" smtClean="0"/>
              <a:t>if (sum1 == number):-</a:t>
            </a:r>
          </a:p>
          <a:p>
            <a:pPr>
              <a:buNone/>
            </a:pPr>
            <a:r>
              <a:rPr lang="en-US" dirty="0" smtClean="0"/>
              <a:t>	 checks whether sum1 is equal to the original number. If they are equal, it means that the number is an Armstrong number, and it prints "</a:t>
            </a:r>
            <a:r>
              <a:rPr lang="en-US" dirty="0" err="1" smtClean="0"/>
              <a:t>armstrong</a:t>
            </a:r>
            <a:r>
              <a:rPr lang="en-US" dirty="0" smtClean="0"/>
              <a:t> number." Otherwise, it prints "not </a:t>
            </a:r>
            <a:r>
              <a:rPr lang="en-US" dirty="0" err="1" smtClean="0"/>
              <a:t>armstrong</a:t>
            </a:r>
            <a:r>
              <a:rPr lang="en-US" dirty="0" smtClean="0"/>
              <a:t> number."</a:t>
            </a:r>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smtClean="0"/>
              <a:t>2</a:t>
            </a:r>
            <a:r>
              <a:rPr lang="en-US" u="sng" baseline="30000" dirty="0" smtClean="0"/>
              <a:t>nd</a:t>
            </a:r>
            <a:r>
              <a:rPr lang="en-US" u="sng" dirty="0" smtClean="0"/>
              <a:t> way: </a:t>
            </a:r>
            <a:br>
              <a:rPr lang="en-US" u="sng" dirty="0" smtClean="0"/>
            </a:br>
            <a:r>
              <a:rPr lang="en-US" dirty="0" smtClean="0"/>
              <a:t>Armstrong </a:t>
            </a:r>
            <a:r>
              <a:rPr lang="en-US" dirty="0" smtClean="0"/>
              <a:t>number</a:t>
            </a:r>
            <a:endParaRPr lang="en-US" dirty="0"/>
          </a:p>
        </p:txBody>
      </p:sp>
      <p:pic>
        <p:nvPicPr>
          <p:cNvPr id="6146" name="Picture 2"/>
          <p:cNvPicPr>
            <a:picLocks noGrp="1" noChangeAspect="1" noChangeArrowheads="1"/>
          </p:cNvPicPr>
          <p:nvPr>
            <p:ph idx="1"/>
          </p:nvPr>
        </p:nvPicPr>
        <p:blipFill>
          <a:blip r:embed="rId2"/>
          <a:srcRect/>
          <a:stretch>
            <a:fillRect/>
          </a:stretch>
        </p:blipFill>
        <p:spPr bwMode="auto">
          <a:xfrm>
            <a:off x="762000" y="1905000"/>
            <a:ext cx="6858000" cy="3721766"/>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smtClean="0"/>
              <a:t>Example:</a:t>
            </a:r>
            <a:r>
              <a:rPr lang="en-US" dirty="0" smtClean="0"/>
              <a:t/>
            </a:r>
            <a:br>
              <a:rPr lang="en-US" dirty="0" smtClean="0"/>
            </a:br>
            <a:r>
              <a:rPr lang="en-US" dirty="0" smtClean="0"/>
              <a:t>Left shift and Right shift</a:t>
            </a:r>
            <a:endParaRPr lang="en-US" dirty="0"/>
          </a:p>
        </p:txBody>
      </p:sp>
      <p:pic>
        <p:nvPicPr>
          <p:cNvPr id="4099" name="Picture 3"/>
          <p:cNvPicPr>
            <a:picLocks noGrp="1" noChangeAspect="1" noChangeArrowheads="1"/>
          </p:cNvPicPr>
          <p:nvPr>
            <p:ph idx="1"/>
          </p:nvPr>
        </p:nvPicPr>
        <p:blipFill>
          <a:blip r:embed="rId2"/>
          <a:srcRect/>
          <a:stretch>
            <a:fillRect/>
          </a:stretch>
        </p:blipFill>
        <p:spPr bwMode="auto">
          <a:xfrm>
            <a:off x="914400" y="2514600"/>
            <a:ext cx="7467600" cy="251460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1524000" y="2590800"/>
            <a:ext cx="6096000" cy="220980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u="sng" dirty="0" smtClean="0"/>
              <a:t>Strong Number</a:t>
            </a:r>
            <a:endParaRPr lang="en-US" u="sng" dirty="0"/>
          </a:p>
        </p:txBody>
      </p:sp>
      <p:pic>
        <p:nvPicPr>
          <p:cNvPr id="8194" name="Picture 2"/>
          <p:cNvPicPr>
            <a:picLocks noGrp="1" noChangeAspect="1" noChangeArrowheads="1"/>
          </p:cNvPicPr>
          <p:nvPr>
            <p:ph idx="1"/>
          </p:nvPr>
        </p:nvPicPr>
        <p:blipFill>
          <a:blip r:embed="rId2"/>
          <a:srcRect/>
          <a:stretch>
            <a:fillRect/>
          </a:stretch>
        </p:blipFill>
        <p:spPr bwMode="auto">
          <a:xfrm>
            <a:off x="381000" y="2057400"/>
            <a:ext cx="8458200" cy="342900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pic>
        <p:nvPicPr>
          <p:cNvPr id="9218" name="Picture 2"/>
          <p:cNvPicPr>
            <a:picLocks noGrp="1" noChangeAspect="1" noChangeArrowheads="1"/>
          </p:cNvPicPr>
          <p:nvPr>
            <p:ph idx="1"/>
          </p:nvPr>
        </p:nvPicPr>
        <p:blipFill>
          <a:blip r:embed="rId2"/>
          <a:srcRect/>
          <a:stretch>
            <a:fillRect/>
          </a:stretch>
        </p:blipFill>
        <p:spPr bwMode="auto">
          <a:xfrm>
            <a:off x="533400" y="2209800"/>
            <a:ext cx="8077200" cy="32766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fontScale="90000"/>
          </a:bodyPr>
          <a:lstStyle/>
          <a:p>
            <a:r>
              <a:rPr lang="en-US" dirty="0" err="1" smtClean="0"/>
              <a:t>Contd</a:t>
            </a:r>
            <a:r>
              <a:rPr lang="en-US" dirty="0" smtClean="0"/>
              <a:t>…</a:t>
            </a:r>
            <a:endParaRPr lang="en-US" dirty="0"/>
          </a:p>
        </p:txBody>
      </p:sp>
      <p:pic>
        <p:nvPicPr>
          <p:cNvPr id="10242" name="Picture 2"/>
          <p:cNvPicPr>
            <a:picLocks noGrp="1" noChangeAspect="1" noChangeArrowheads="1"/>
          </p:cNvPicPr>
          <p:nvPr>
            <p:ph idx="1"/>
          </p:nvPr>
        </p:nvPicPr>
        <p:blipFill>
          <a:blip r:embed="rId2"/>
          <a:srcRect/>
          <a:stretch>
            <a:fillRect/>
          </a:stretch>
        </p:blipFill>
        <p:spPr bwMode="auto">
          <a:xfrm>
            <a:off x="914400" y="1295400"/>
            <a:ext cx="6477000" cy="48006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a:bodyPr>
          <a:lstStyle/>
          <a:p>
            <a:r>
              <a:rPr lang="en-US" dirty="0" err="1" smtClean="0"/>
              <a:t>sumfact</a:t>
            </a:r>
            <a:r>
              <a:rPr lang="en-US" dirty="0" smtClean="0"/>
              <a:t> = 0: Initialize the </a:t>
            </a:r>
            <a:r>
              <a:rPr lang="en-US" dirty="0" err="1" smtClean="0"/>
              <a:t>sumfact</a:t>
            </a:r>
            <a:r>
              <a:rPr lang="en-US" dirty="0" smtClean="0"/>
              <a:t> variable to store the sum of factorials.</a:t>
            </a:r>
          </a:p>
          <a:p>
            <a:r>
              <a:rPr lang="en-US" dirty="0" smtClean="0"/>
              <a:t>num = </a:t>
            </a:r>
            <a:r>
              <a:rPr lang="en-US" dirty="0" err="1" smtClean="0"/>
              <a:t>int</a:t>
            </a:r>
            <a:r>
              <a:rPr lang="en-US" dirty="0" smtClean="0"/>
              <a:t>(input("num: ")): Read an integer input from the user.</a:t>
            </a:r>
          </a:p>
          <a:p>
            <a:r>
              <a:rPr lang="en-US" dirty="0" smtClean="0"/>
              <a:t>temp = num: Store the original input value in the temp variable for later comparison.</a:t>
            </a:r>
          </a:p>
          <a:p>
            <a:pPr>
              <a:buNone/>
            </a:pPr>
            <a:endParaRPr lang="en-US" dirty="0" smtClean="0"/>
          </a:p>
          <a:p>
            <a:r>
              <a:rPr lang="en-US" dirty="0" smtClean="0"/>
              <a:t>The code then enters a while loop to process each digit of the input number.</a:t>
            </a:r>
          </a:p>
          <a:p>
            <a:pPr>
              <a:buNone/>
            </a:pP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r>
              <a:rPr lang="en-US" dirty="0" err="1" smtClean="0"/>
              <a:t>Contd</a:t>
            </a:r>
            <a:r>
              <a:rPr lang="en-US" dirty="0" smtClean="0"/>
              <a:t>…</a:t>
            </a:r>
            <a:endParaRPr lang="en-US" dirty="0"/>
          </a:p>
        </p:txBody>
      </p:sp>
      <p:sp>
        <p:nvSpPr>
          <p:cNvPr id="3" name="Content Placeholder 2"/>
          <p:cNvSpPr>
            <a:spLocks noGrp="1"/>
          </p:cNvSpPr>
          <p:nvPr>
            <p:ph idx="1"/>
          </p:nvPr>
        </p:nvSpPr>
        <p:spPr>
          <a:xfrm>
            <a:off x="457200" y="1524000"/>
            <a:ext cx="8229600" cy="4800600"/>
          </a:xfrm>
        </p:spPr>
        <p:txBody>
          <a:bodyPr>
            <a:normAutofit fontScale="92500" lnSpcReduction="20000"/>
          </a:bodyPr>
          <a:lstStyle/>
          <a:p>
            <a:pPr algn="just"/>
            <a:r>
              <a:rPr lang="en-US" b="1" dirty="0" smtClean="0"/>
              <a:t>while(num):- </a:t>
            </a:r>
            <a:r>
              <a:rPr lang="en-US" dirty="0" smtClean="0"/>
              <a:t>This loop continues until num becomes zero (i.e., all digits have been processed).</a:t>
            </a:r>
          </a:p>
          <a:p>
            <a:pPr algn="just"/>
            <a:r>
              <a:rPr lang="en-US" b="1" dirty="0" smtClean="0"/>
              <a:t> </a:t>
            </a:r>
            <a:r>
              <a:rPr lang="en-US" b="1" dirty="0" err="1" smtClean="0"/>
              <a:t>i</a:t>
            </a:r>
            <a:r>
              <a:rPr lang="en-US" b="1" dirty="0" smtClean="0"/>
              <a:t> = 1:- </a:t>
            </a:r>
            <a:r>
              <a:rPr lang="en-US" dirty="0" smtClean="0"/>
              <a:t>Initialize a variable </a:t>
            </a:r>
            <a:r>
              <a:rPr lang="en-US" dirty="0" err="1" smtClean="0"/>
              <a:t>i</a:t>
            </a:r>
            <a:r>
              <a:rPr lang="en-US" dirty="0" smtClean="0"/>
              <a:t> to 1 for calculating the factorial of a digit. </a:t>
            </a:r>
          </a:p>
          <a:p>
            <a:pPr algn="just"/>
            <a:r>
              <a:rPr lang="en-US" b="1" dirty="0" smtClean="0"/>
              <a:t>fact = 1:- </a:t>
            </a:r>
            <a:r>
              <a:rPr lang="en-US" dirty="0" smtClean="0"/>
              <a:t>Initialize a variable fact to 1 to calculate the factorial of the current digit. </a:t>
            </a:r>
          </a:p>
          <a:p>
            <a:pPr algn="just"/>
            <a:r>
              <a:rPr lang="en-US" b="1" dirty="0" smtClean="0"/>
              <a:t>digit = num % 10: </a:t>
            </a:r>
            <a:r>
              <a:rPr lang="en-US" dirty="0" smtClean="0"/>
              <a:t>Extract the last digit of num.</a:t>
            </a:r>
          </a:p>
          <a:p>
            <a:pPr algn="just"/>
            <a:r>
              <a:rPr lang="en-US" dirty="0" smtClean="0"/>
              <a:t>A nested while loop calculates the factorial of the current digit and updates the fact variable accordingly. </a:t>
            </a:r>
          </a:p>
          <a:p>
            <a:pPr algn="just"/>
            <a:r>
              <a:rPr lang="en-US" b="1" dirty="0" err="1" smtClean="0"/>
              <a:t>sumfact</a:t>
            </a:r>
            <a:r>
              <a:rPr lang="en-US" b="1" dirty="0" smtClean="0"/>
              <a:t> = </a:t>
            </a:r>
            <a:r>
              <a:rPr lang="en-US" b="1" dirty="0" err="1" smtClean="0"/>
              <a:t>sumfact</a:t>
            </a:r>
            <a:r>
              <a:rPr lang="en-US" b="1" dirty="0" smtClean="0"/>
              <a:t> + fact:</a:t>
            </a:r>
          </a:p>
          <a:p>
            <a:pPr algn="just">
              <a:buNone/>
            </a:pPr>
            <a:r>
              <a:rPr lang="en-US" dirty="0" smtClean="0"/>
              <a:t>	 Add the factorial of the current digit to the running sum of factorials. f. num = num // 10: Remove the last digit from num to process the next digit.</a:t>
            </a:r>
          </a:p>
          <a:p>
            <a:pPr algn="just"/>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lstStyle/>
          <a:p>
            <a:r>
              <a:rPr lang="en-US" dirty="0" smtClean="0"/>
              <a:t>After processing all digits, the code checks whether </a:t>
            </a:r>
            <a:r>
              <a:rPr lang="en-US" dirty="0" err="1" smtClean="0"/>
              <a:t>sumfact</a:t>
            </a:r>
            <a:r>
              <a:rPr lang="en-US" dirty="0" smtClean="0"/>
              <a:t> is equal to the original input value temp.</a:t>
            </a:r>
          </a:p>
          <a:p>
            <a:pPr>
              <a:buNone/>
            </a:pPr>
            <a:endParaRPr lang="en-US" dirty="0" smtClean="0"/>
          </a:p>
          <a:p>
            <a:r>
              <a:rPr lang="en-US" dirty="0" smtClean="0"/>
              <a:t>If </a:t>
            </a:r>
            <a:r>
              <a:rPr lang="en-US" dirty="0" err="1" smtClean="0"/>
              <a:t>sumfact</a:t>
            </a:r>
            <a:r>
              <a:rPr lang="en-US" dirty="0" smtClean="0"/>
              <a:t> is equal to temp, it prints "strong number"; otherwise, it prints "not a strong number."</a:t>
            </a:r>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u="sng" dirty="0" smtClean="0"/>
              <a:t>Perfect Number</a:t>
            </a:r>
            <a:endParaRPr lang="en-US" u="sng" dirty="0"/>
          </a:p>
        </p:txBody>
      </p:sp>
      <p:pic>
        <p:nvPicPr>
          <p:cNvPr id="11266" name="Picture 2"/>
          <p:cNvPicPr>
            <a:picLocks noGrp="1" noChangeAspect="1" noChangeArrowheads="1"/>
          </p:cNvPicPr>
          <p:nvPr>
            <p:ph idx="1"/>
          </p:nvPr>
        </p:nvPicPr>
        <p:blipFill>
          <a:blip r:embed="rId2"/>
          <a:srcRect/>
          <a:stretch>
            <a:fillRect/>
          </a:stretch>
        </p:blipFill>
        <p:spPr bwMode="auto">
          <a:xfrm>
            <a:off x="990600" y="2209800"/>
            <a:ext cx="7467600"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r>
              <a:rPr lang="en-US" dirty="0" smtClean="0"/>
              <a:t>Example:</a:t>
            </a:r>
            <a:endParaRPr lang="en-US" dirty="0"/>
          </a:p>
        </p:txBody>
      </p:sp>
      <p:pic>
        <p:nvPicPr>
          <p:cNvPr id="12290" name="Picture 2"/>
          <p:cNvPicPr>
            <a:picLocks noGrp="1" noChangeAspect="1" noChangeArrowheads="1"/>
          </p:cNvPicPr>
          <p:nvPr>
            <p:ph idx="1"/>
          </p:nvPr>
        </p:nvPicPr>
        <p:blipFill>
          <a:blip r:embed="rId2"/>
          <a:srcRect/>
          <a:stretch>
            <a:fillRect/>
          </a:stretch>
        </p:blipFill>
        <p:spPr bwMode="auto">
          <a:xfrm>
            <a:off x="304800" y="1600200"/>
            <a:ext cx="4191000" cy="1295400"/>
          </a:xfrm>
          <a:prstGeom prst="rect">
            <a:avLst/>
          </a:prstGeom>
          <a:noFill/>
          <a:ln w="9525">
            <a:noFill/>
            <a:miter lim="800000"/>
            <a:headEnd/>
            <a:tailEnd/>
          </a:ln>
          <a:effectLst/>
        </p:spPr>
      </p:pic>
      <p:pic>
        <p:nvPicPr>
          <p:cNvPr id="12291" name="Picture 3"/>
          <p:cNvPicPr>
            <a:picLocks noChangeAspect="1" noChangeArrowheads="1"/>
          </p:cNvPicPr>
          <p:nvPr/>
        </p:nvPicPr>
        <p:blipFill>
          <a:blip r:embed="rId3"/>
          <a:srcRect/>
          <a:stretch>
            <a:fillRect/>
          </a:stretch>
        </p:blipFill>
        <p:spPr bwMode="auto">
          <a:xfrm>
            <a:off x="304800" y="3429000"/>
            <a:ext cx="4191000" cy="1371600"/>
          </a:xfrm>
          <a:prstGeom prst="rect">
            <a:avLst/>
          </a:prstGeom>
          <a:noFill/>
          <a:ln w="9525">
            <a:noFill/>
            <a:miter lim="800000"/>
            <a:headEnd/>
            <a:tailEnd/>
          </a:ln>
          <a:effectLst/>
        </p:spPr>
      </p:pic>
      <p:pic>
        <p:nvPicPr>
          <p:cNvPr id="12292" name="Picture 4"/>
          <p:cNvPicPr>
            <a:picLocks noChangeAspect="1" noChangeArrowheads="1"/>
          </p:cNvPicPr>
          <p:nvPr/>
        </p:nvPicPr>
        <p:blipFill>
          <a:blip r:embed="rId4"/>
          <a:srcRect/>
          <a:stretch>
            <a:fillRect/>
          </a:stretch>
        </p:blipFill>
        <p:spPr bwMode="auto">
          <a:xfrm>
            <a:off x="381000" y="5105400"/>
            <a:ext cx="3657600" cy="144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124200"/>
            <a:ext cx="7772400" cy="1362456"/>
          </a:xfrm>
        </p:spPr>
        <p:txBody>
          <a:bodyPr/>
          <a:lstStyle/>
          <a:p>
            <a:pPr algn="ctr"/>
            <a:r>
              <a:rPr sz="4800" smtClean="0"/>
              <a:t>Write a program to determine whether the number is Perfect, Abundant and Deficient</a:t>
            </a:r>
            <a:endParaRPr lang="en-US" sz="4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82000" cy="438912"/>
          </a:xfrm>
        </p:spPr>
        <p:txBody>
          <a:bodyPr>
            <a:noAutofit/>
          </a:bodyPr>
          <a:lstStyle/>
          <a:p>
            <a:r>
              <a:rPr lang="en-US" sz="3200" b="1" dirty="0" smtClean="0"/>
              <a:t>1</a:t>
            </a:r>
            <a:r>
              <a:rPr lang="en-US" sz="3200" b="1" baseline="30000" dirty="0" smtClean="0"/>
              <a:t>ST</a:t>
            </a:r>
            <a:r>
              <a:rPr lang="en-US" sz="3200" b="1" dirty="0" smtClean="0"/>
              <a:t> WAY:-</a:t>
            </a:r>
            <a:endParaRPr lang="en-US" sz="3200" b="1" dirty="0"/>
          </a:p>
        </p:txBody>
      </p:sp>
      <p:pic>
        <p:nvPicPr>
          <p:cNvPr id="13314" name="Picture 2"/>
          <p:cNvPicPr>
            <a:picLocks noGrp="1" noChangeAspect="1" noChangeArrowheads="1"/>
          </p:cNvPicPr>
          <p:nvPr>
            <p:ph idx="1"/>
          </p:nvPr>
        </p:nvPicPr>
        <p:blipFill>
          <a:blip r:embed="rId2"/>
          <a:srcRect/>
          <a:stretch>
            <a:fillRect/>
          </a:stretch>
        </p:blipFill>
        <p:spPr bwMode="auto">
          <a:xfrm>
            <a:off x="457200" y="1371600"/>
            <a:ext cx="8229600" cy="5181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number = </a:t>
            </a:r>
            <a:r>
              <a:rPr lang="en-US" dirty="0" err="1" smtClean="0"/>
              <a:t>int</a:t>
            </a:r>
            <a:r>
              <a:rPr lang="en-US" dirty="0" smtClean="0"/>
              <a:t>(input("num: ")): Read an integer input from the user.</a:t>
            </a:r>
          </a:p>
          <a:p>
            <a:r>
              <a:rPr lang="en-US" dirty="0" smtClean="0"/>
              <a:t>factors = [1]: Initialize a list called factors with the value 1 because 1 is always a factor of any number.</a:t>
            </a:r>
          </a:p>
          <a:p>
            <a:r>
              <a:rPr lang="en-US" dirty="0" smtClean="0"/>
              <a:t>for x in range(2, (</a:t>
            </a:r>
            <a:r>
              <a:rPr lang="en-US" dirty="0" err="1" smtClean="0"/>
              <a:t>int</a:t>
            </a:r>
            <a:r>
              <a:rPr lang="en-US" dirty="0" smtClean="0"/>
              <a:t>(number **.5)) + 1): Iterate through numbers from 2 to the square root of the input number (inclusive). This loop is used to find factors of the input number efficiently.</a:t>
            </a:r>
          </a:p>
          <a:p>
            <a:r>
              <a:rPr lang="en-US" dirty="0" smtClean="0"/>
              <a:t>if (number % x == 0): Check if x is a factor of the input number (number). If the remainder of the division is zero, it means x is a factor.</a:t>
            </a:r>
          </a:p>
          <a:p>
            <a:r>
              <a:rPr lang="en-US" dirty="0" smtClean="0"/>
              <a:t>a. If x is equal to number // x, it means the factor is a perfect square factor. In this case, add x to the factors list.</a:t>
            </a:r>
          </a:p>
          <a:p>
            <a:r>
              <a:rPr lang="en-US" dirty="0" smtClean="0"/>
              <a:t>b. Otherwise, if x is not equal to number // x, add both x and number // x to the factors list.</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sum = sum(factors): Calculate the sum of all factors found in the previous steps and store it in the sum variable.</a:t>
            </a:r>
          </a:p>
          <a:p>
            <a:r>
              <a:rPr lang="en-US" dirty="0" smtClean="0"/>
              <a:t>print("factors:", sorted(factors)): Print the factors in sorted order.</a:t>
            </a:r>
          </a:p>
          <a:p>
            <a:r>
              <a:rPr lang="en-US" dirty="0" smtClean="0"/>
              <a:t>print("sum:", sum): Print the sum of the factors.</a:t>
            </a:r>
          </a:p>
          <a:p>
            <a:r>
              <a:rPr lang="en-US" dirty="0" smtClean="0"/>
              <a:t>Determine the type of number based on the comparison between the sum of factors and the original number:</a:t>
            </a:r>
          </a:p>
          <a:p>
            <a:pPr lvl="1"/>
            <a:r>
              <a:rPr lang="en-US" dirty="0" smtClean="0"/>
              <a:t>If sum is equal to number, the number is classified as "perfect" because the sum of its factors equals itself.</a:t>
            </a:r>
          </a:p>
          <a:p>
            <a:pPr lvl="1"/>
            <a:r>
              <a:rPr lang="en-US" dirty="0" smtClean="0"/>
              <a:t>If sum is greater than number, the number is classified as "abundant" because the sum of its factors exceeds itself.</a:t>
            </a:r>
          </a:p>
          <a:p>
            <a:pPr lvl="1"/>
            <a:r>
              <a:rPr lang="en-US" dirty="0" smtClean="0"/>
              <a:t>If sum is less than number, the number is classified as "deficient" because the sum of its factors is less than itself.</a:t>
            </a:r>
          </a:p>
          <a:p>
            <a:pPr>
              <a:buNone/>
            </a:pP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a:t>
            </a:r>
            <a:r>
              <a:rPr lang="en-US" baseline="30000" dirty="0" smtClean="0"/>
              <a:t>nd</a:t>
            </a:r>
            <a:r>
              <a:rPr lang="en-US" dirty="0" smtClean="0"/>
              <a:t> way: </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2133600" y="2133600"/>
            <a:ext cx="4114800" cy="36576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a:t>
            </a:r>
            <a:endParaRPr lang="en-US" dirty="0"/>
          </a:p>
        </p:txBody>
      </p:sp>
      <p:sp>
        <p:nvSpPr>
          <p:cNvPr id="3" name="Content Placeholder 2"/>
          <p:cNvSpPr>
            <a:spLocks noGrp="1"/>
          </p:cNvSpPr>
          <p:nvPr>
            <p:ph idx="1"/>
          </p:nvPr>
        </p:nvSpPr>
        <p:spPr/>
        <p:txBody>
          <a:bodyPr>
            <a:normAutofit/>
          </a:bodyPr>
          <a:lstStyle/>
          <a:p>
            <a:r>
              <a:rPr lang="en-US" dirty="0" smtClean="0"/>
              <a:t> We will take an </a:t>
            </a:r>
            <a:r>
              <a:rPr lang="en-US" dirty="0" smtClean="0"/>
              <a:t>integer input from the user and stores it in the variable num.</a:t>
            </a:r>
          </a:p>
          <a:p>
            <a:r>
              <a:rPr lang="en-US" dirty="0" smtClean="0"/>
              <a:t>We </a:t>
            </a:r>
            <a:r>
              <a:rPr lang="en-US" dirty="0" smtClean="0"/>
              <a:t>initializes a variable s to 0. This variable will be used to calculate the sum of the factors of num.</a:t>
            </a:r>
          </a:p>
          <a:p>
            <a:r>
              <a:rPr lang="en-US" dirty="0" smtClean="0"/>
              <a:t>We initialize an </a:t>
            </a:r>
            <a:r>
              <a:rPr lang="en-US" dirty="0" smtClean="0"/>
              <a:t>empty list </a:t>
            </a:r>
            <a:r>
              <a:rPr lang="en-US" dirty="0" err="1" smtClean="0"/>
              <a:t>li</a:t>
            </a:r>
            <a:r>
              <a:rPr lang="en-US" dirty="0" smtClean="0"/>
              <a:t> to store the factors of num.</a:t>
            </a:r>
          </a:p>
          <a:p>
            <a:r>
              <a:rPr lang="en-US" dirty="0" smtClean="0"/>
              <a:t> Then, iterates </a:t>
            </a:r>
            <a:r>
              <a:rPr lang="en-US" dirty="0" smtClean="0"/>
              <a:t>through the numbers from 1 to num - 1 using a for loop</a:t>
            </a:r>
            <a:r>
              <a:rPr lang="en-US" dirty="0" smtClean="0"/>
              <a:t>.</a:t>
            </a:r>
          </a:p>
          <a:p>
            <a:endParaRPr lang="en-US" dirty="0" smtClean="0"/>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lstStyle/>
          <a:p>
            <a:r>
              <a:rPr lang="en-US" dirty="0" smtClean="0"/>
              <a:t>For each iteration, it checks if num is divisible by </a:t>
            </a:r>
            <a:r>
              <a:rPr lang="en-US" dirty="0" err="1" smtClean="0"/>
              <a:t>i</a:t>
            </a:r>
            <a:r>
              <a:rPr lang="en-US" dirty="0" smtClean="0"/>
              <a:t> (i.e., num % </a:t>
            </a:r>
            <a:r>
              <a:rPr lang="en-US" dirty="0" err="1" smtClean="0"/>
              <a:t>i</a:t>
            </a:r>
            <a:r>
              <a:rPr lang="en-US" dirty="0" smtClean="0"/>
              <a:t> == 0). If it is, then </a:t>
            </a:r>
            <a:r>
              <a:rPr lang="en-US" dirty="0" err="1" smtClean="0"/>
              <a:t>i</a:t>
            </a:r>
            <a:r>
              <a:rPr lang="en-US" dirty="0" smtClean="0"/>
              <a:t> is a factor of num, so it adds </a:t>
            </a:r>
            <a:r>
              <a:rPr lang="en-US" dirty="0" err="1" smtClean="0"/>
              <a:t>i</a:t>
            </a:r>
            <a:r>
              <a:rPr lang="en-US" dirty="0" smtClean="0"/>
              <a:t> to the sum s and appends </a:t>
            </a:r>
            <a:r>
              <a:rPr lang="en-US" dirty="0" err="1" smtClean="0"/>
              <a:t>i</a:t>
            </a:r>
            <a:r>
              <a:rPr lang="en-US" dirty="0" smtClean="0"/>
              <a:t> to the </a:t>
            </a:r>
            <a:r>
              <a:rPr lang="en-US" dirty="0" err="1" smtClean="0"/>
              <a:t>li</a:t>
            </a:r>
            <a:r>
              <a:rPr lang="en-US" dirty="0" smtClean="0"/>
              <a:t> list.</a:t>
            </a:r>
          </a:p>
          <a:p>
            <a:r>
              <a:rPr lang="en-US" dirty="0" smtClean="0"/>
              <a:t>After the loop, it prints the factors of num and the sum of those factors.</a:t>
            </a:r>
          </a:p>
          <a:p>
            <a:r>
              <a:rPr lang="en-US" dirty="0" smtClean="0"/>
              <a:t>It then checks whether the sum of factors (s) is equal to num. If it is, it prints "perfect." If s is greater than num, it prints "abundant." Otherwise, it prints "deficient."</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normAutofit fontScale="90000"/>
          </a:bodyPr>
          <a:lstStyle/>
          <a:p>
            <a:r>
              <a:rPr lang="en-US" dirty="0" err="1" smtClean="0"/>
              <a:t>Contd</a:t>
            </a:r>
            <a:r>
              <a:rPr lang="en-US" dirty="0" smtClean="0"/>
              <a:t>…</a:t>
            </a:r>
            <a:endParaRPr lang="en-US" dirty="0"/>
          </a:p>
        </p:txBody>
      </p:sp>
      <p:pic>
        <p:nvPicPr>
          <p:cNvPr id="14338" name="Picture 2"/>
          <p:cNvPicPr>
            <a:picLocks noGrp="1" noChangeAspect="1" noChangeArrowheads="1"/>
          </p:cNvPicPr>
          <p:nvPr>
            <p:ph idx="1"/>
          </p:nvPr>
        </p:nvPicPr>
        <p:blipFill>
          <a:blip r:embed="rId2"/>
          <a:srcRect/>
          <a:stretch>
            <a:fillRect/>
          </a:stretch>
        </p:blipFill>
        <p:spPr bwMode="auto">
          <a:xfrm>
            <a:off x="533400" y="1295400"/>
            <a:ext cx="3886200" cy="1371600"/>
          </a:xfrm>
          <a:prstGeom prst="rect">
            <a:avLst/>
          </a:prstGeom>
          <a:noFill/>
          <a:ln w="9525">
            <a:noFill/>
            <a:miter lim="800000"/>
            <a:headEnd/>
            <a:tailEnd/>
          </a:ln>
          <a:effectLst/>
        </p:spPr>
      </p:pic>
      <p:pic>
        <p:nvPicPr>
          <p:cNvPr id="14339" name="Picture 3"/>
          <p:cNvPicPr>
            <a:picLocks noChangeAspect="1" noChangeArrowheads="1"/>
          </p:cNvPicPr>
          <p:nvPr/>
        </p:nvPicPr>
        <p:blipFill>
          <a:blip r:embed="rId3"/>
          <a:srcRect/>
          <a:stretch>
            <a:fillRect/>
          </a:stretch>
        </p:blipFill>
        <p:spPr bwMode="auto">
          <a:xfrm>
            <a:off x="533400" y="2819400"/>
            <a:ext cx="3886200" cy="1447800"/>
          </a:xfrm>
          <a:prstGeom prst="rect">
            <a:avLst/>
          </a:prstGeom>
          <a:noFill/>
          <a:ln w="9525">
            <a:noFill/>
            <a:miter lim="800000"/>
            <a:headEnd/>
            <a:tailEnd/>
          </a:ln>
          <a:effectLst/>
        </p:spPr>
      </p:pic>
      <p:pic>
        <p:nvPicPr>
          <p:cNvPr id="14340" name="Picture 4"/>
          <p:cNvPicPr>
            <a:picLocks noChangeAspect="1" noChangeArrowheads="1"/>
          </p:cNvPicPr>
          <p:nvPr/>
        </p:nvPicPr>
        <p:blipFill>
          <a:blip r:embed="rId4"/>
          <a:srcRect/>
          <a:stretch>
            <a:fillRect/>
          </a:stretch>
        </p:blipFill>
        <p:spPr bwMode="auto">
          <a:xfrm>
            <a:off x="533400" y="4343400"/>
            <a:ext cx="3886200" cy="175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2149</TotalTime>
  <Words>1784</Words>
  <Application>Microsoft Office PowerPoint</Application>
  <PresentationFormat>On-screen Show (4:3)</PresentationFormat>
  <Paragraphs>189</Paragraphs>
  <Slides>52</Slides>
  <Notes>0</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Flow</vt:lpstr>
      <vt:lpstr>Example:</vt:lpstr>
      <vt:lpstr>Contd…</vt:lpstr>
      <vt:lpstr>Contd…</vt:lpstr>
      <vt:lpstr>Example: </vt:lpstr>
      <vt:lpstr>Contd…</vt:lpstr>
      <vt:lpstr>Example:</vt:lpstr>
      <vt:lpstr>Contd…</vt:lpstr>
      <vt:lpstr>Steps: </vt:lpstr>
      <vt:lpstr>Slide 9</vt:lpstr>
      <vt:lpstr>Slide 10</vt:lpstr>
      <vt:lpstr>Example:</vt:lpstr>
      <vt:lpstr>Contd…</vt:lpstr>
      <vt:lpstr>Contd…</vt:lpstr>
      <vt:lpstr>Contd…</vt:lpstr>
      <vt:lpstr>Steps: </vt:lpstr>
      <vt:lpstr>Contd…</vt:lpstr>
      <vt:lpstr>Contd…</vt:lpstr>
      <vt:lpstr>Example:</vt:lpstr>
      <vt:lpstr>Contd…</vt:lpstr>
      <vt:lpstr>Example</vt:lpstr>
      <vt:lpstr>Contd…</vt:lpstr>
      <vt:lpstr>Contd…</vt:lpstr>
      <vt:lpstr>Steps: </vt:lpstr>
      <vt:lpstr>Contd…</vt:lpstr>
      <vt:lpstr>Slide 25</vt:lpstr>
      <vt:lpstr>Armstrong Number</vt:lpstr>
      <vt:lpstr>Contd…</vt:lpstr>
      <vt:lpstr>Contd…</vt:lpstr>
      <vt:lpstr>Contd…</vt:lpstr>
      <vt:lpstr>Contd…    Steps:</vt:lpstr>
      <vt:lpstr>Contd…</vt:lpstr>
      <vt:lpstr>Contd…</vt:lpstr>
      <vt:lpstr>Contd…</vt:lpstr>
      <vt:lpstr>2nd way:  Armstrong number</vt:lpstr>
      <vt:lpstr>Example: Left shift and Right shift</vt:lpstr>
      <vt:lpstr>Contd…</vt:lpstr>
      <vt:lpstr>Strong Number</vt:lpstr>
      <vt:lpstr>Contd…</vt:lpstr>
      <vt:lpstr>Contd…</vt:lpstr>
      <vt:lpstr>Contd…</vt:lpstr>
      <vt:lpstr>Contd…</vt:lpstr>
      <vt:lpstr>Contd…</vt:lpstr>
      <vt:lpstr>Perfect Number</vt:lpstr>
      <vt:lpstr>Example:</vt:lpstr>
      <vt:lpstr>Write a program to determine whether the number is Perfect, Abundant and Deficient</vt:lpstr>
      <vt:lpstr>1ST WAY:-</vt:lpstr>
      <vt:lpstr>Steps:- </vt:lpstr>
      <vt:lpstr>Contd…</vt:lpstr>
      <vt:lpstr>2nd way: </vt:lpstr>
      <vt:lpstr>Steps: </vt:lpstr>
      <vt:lpstr>Contd…</vt:lpstr>
      <vt:lpstr>Contd…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56</cp:revision>
  <dcterms:created xsi:type="dcterms:W3CDTF">2023-09-25T10:32:05Z</dcterms:created>
  <dcterms:modified xsi:type="dcterms:W3CDTF">2023-09-29T07:16:10Z</dcterms:modified>
</cp:coreProperties>
</file>