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9"/>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91" r:id="rId36"/>
    <p:sldId id="292" r:id="rId37"/>
    <p:sldId id="293" r:id="rId38"/>
    <p:sldId id="288" r:id="rId39"/>
    <p:sldId id="294" r:id="rId40"/>
    <p:sldId id="295" r:id="rId41"/>
    <p:sldId id="296" r:id="rId42"/>
    <p:sldId id="298" r:id="rId43"/>
    <p:sldId id="297" r:id="rId44"/>
    <p:sldId id="299" r:id="rId45"/>
    <p:sldId id="300" r:id="rId46"/>
    <p:sldId id="305" r:id="rId47"/>
    <p:sldId id="301" r:id="rId48"/>
    <p:sldId id="302" r:id="rId49"/>
    <p:sldId id="303" r:id="rId50"/>
    <p:sldId id="304"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8" r:id="rId80"/>
    <p:sldId id="334" r:id="rId81"/>
    <p:sldId id="335" r:id="rId82"/>
    <p:sldId id="336" r:id="rId83"/>
    <p:sldId id="337"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66" d="100"/>
          <a:sy n="66" d="100"/>
        </p:scale>
        <p:origin x="-1506" y="-14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02401F-6F0A-481D-9F0F-647801779006}" type="datetimeFigureOut">
              <a:rPr lang="en-US" smtClean="0"/>
              <a:t>10/20/2023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35454D-D3E7-436C-996F-8AB146ABB95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435454D-D3E7-436C-996F-8AB146ABB95D}" type="slidenum">
              <a:rPr lang="en-US" smtClean="0"/>
              <a:t>103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A701A07-A3B5-4207-BAF8-DC426BA398A2}"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4DE39FE-35B1-4780-9D80-CAA8981CB827}"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701A07-A3B5-4207-BAF8-DC426BA398A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F4DE39FE-35B1-4780-9D80-CAA8981CB827}" type="datetimeFigureOut">
              <a:rPr lang="en-US" smtClean="0"/>
              <a:pPr/>
              <a:t>10/20/2023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A701A07-A3B5-4207-BAF8-DC426BA398A2}"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b="1" u="sng" dirty="0" smtClean="0"/>
              <a:t>Functions in Python</a:t>
            </a:r>
            <a:endParaRPr lang="en-US" b="1" u="sng" dirty="0"/>
          </a:p>
        </p:txBody>
      </p:sp>
      <p:pic>
        <p:nvPicPr>
          <p:cNvPr id="1027" name="Picture 3"/>
          <p:cNvPicPr>
            <a:picLocks noGrp="1" noChangeAspect="1" noChangeArrowheads="1"/>
          </p:cNvPicPr>
          <p:nvPr>
            <p:ph idx="1"/>
          </p:nvPr>
        </p:nvPicPr>
        <p:blipFill>
          <a:blip r:embed="rId2"/>
          <a:srcRect/>
          <a:stretch>
            <a:fillRect/>
          </a:stretch>
        </p:blipFill>
        <p:spPr bwMode="auto">
          <a:xfrm>
            <a:off x="228600" y="1981200"/>
            <a:ext cx="8686800"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Syntax</a:t>
            </a:r>
            <a:endParaRPr lang="en-US" b="1" u="sng" dirty="0"/>
          </a:p>
        </p:txBody>
      </p:sp>
      <p:pic>
        <p:nvPicPr>
          <p:cNvPr id="2050" name="Picture 2"/>
          <p:cNvPicPr>
            <a:picLocks noGrp="1" noChangeAspect="1" noChangeArrowheads="1"/>
          </p:cNvPicPr>
          <p:nvPr>
            <p:ph idx="1"/>
          </p:nvPr>
        </p:nvPicPr>
        <p:blipFill>
          <a:blip r:embed="rId2"/>
          <a:srcRect/>
          <a:stretch>
            <a:fillRect/>
          </a:stretch>
        </p:blipFill>
        <p:spPr bwMode="auto">
          <a:xfrm>
            <a:off x="1524000" y="2133600"/>
            <a:ext cx="6172199" cy="3124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457200" y="2514600"/>
            <a:ext cx="8458200" cy="266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533400" y="1981200"/>
            <a:ext cx="7924799"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Select the correct option</a:t>
            </a:r>
            <a:endParaRPr lang="en-US" b="1" u="sng" dirty="0"/>
          </a:p>
        </p:txBody>
      </p:sp>
      <p:pic>
        <p:nvPicPr>
          <p:cNvPr id="1026" name="Picture 2"/>
          <p:cNvPicPr>
            <a:picLocks noGrp="1" noChangeAspect="1" noChangeArrowheads="1"/>
          </p:cNvPicPr>
          <p:nvPr>
            <p:ph idx="1"/>
          </p:nvPr>
        </p:nvPicPr>
        <p:blipFill>
          <a:blip r:embed="rId2"/>
          <a:srcRect/>
          <a:stretch>
            <a:fillRect/>
          </a:stretch>
        </p:blipFill>
        <p:spPr bwMode="auto">
          <a:xfrm>
            <a:off x="838200" y="2057400"/>
            <a:ext cx="73914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932688"/>
          </a:xfrm>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a:xfrm>
            <a:off x="457200" y="2819400"/>
            <a:ext cx="8229600" cy="609600"/>
          </a:xfrm>
        </p:spPr>
        <p:txBody>
          <a:bodyPr/>
          <a:lstStyle/>
          <a:p>
            <a:pPr>
              <a:buNone/>
            </a:pPr>
            <a:r>
              <a:rPr lang="en-US" dirty="0" smtClean="0"/>
              <a:t>	</a:t>
            </a:r>
            <a:r>
              <a:rPr lang="en-US" sz="1600" dirty="0" smtClean="0"/>
              <a:t>	Answer: Option 1 &amp; 2 are correct</a:t>
            </a:r>
            <a:endParaRPr lang="en-US" sz="16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Contd</a:t>
            </a:r>
            <a:r>
              <a:rPr lang="en-US" dirty="0" smtClean="0"/>
              <a: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228600" y="2362200"/>
            <a:ext cx="8915400"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r>
              <a:rPr lang="en-US" dirty="0" smtClean="0">
                <a:sym typeface="Wingdings" pitchFamily="2" charset="2"/>
              </a:rPr>
              <a:t>(1.4)</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905000" y="1981200"/>
            <a:ext cx="4571999" cy="3733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pPr algn="ctr"/>
            <a:r>
              <a:rPr lang="en-US" b="1" u="sng" dirty="0" smtClean="0"/>
              <a:t>Problem statement(1.3)</a:t>
            </a:r>
            <a:endParaRPr lang="en-US" b="1" u="sng" dirty="0"/>
          </a:p>
        </p:txBody>
      </p:sp>
      <p:pic>
        <p:nvPicPr>
          <p:cNvPr id="2050" name="Picture 2"/>
          <p:cNvPicPr>
            <a:picLocks noGrp="1" noChangeAspect="1" noChangeArrowheads="1"/>
          </p:cNvPicPr>
          <p:nvPr>
            <p:ph idx="1"/>
          </p:nvPr>
        </p:nvPicPr>
        <p:blipFill>
          <a:blip r:embed="rId2"/>
          <a:srcRect/>
          <a:stretch>
            <a:fillRect/>
          </a:stretch>
        </p:blipFill>
        <p:spPr bwMode="auto">
          <a:xfrm>
            <a:off x="304800" y="1752600"/>
            <a:ext cx="8382000" cy="472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295400" y="2362200"/>
            <a:ext cx="6019800" cy="304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Output:</a:t>
            </a:r>
            <a:endParaRPr lang="en-US" u="sng" dirty="0"/>
          </a:p>
        </p:txBody>
      </p:sp>
      <p:pic>
        <p:nvPicPr>
          <p:cNvPr id="4098" name="Picture 2"/>
          <p:cNvPicPr>
            <a:picLocks noGrp="1" noChangeAspect="1" noChangeArrowheads="1"/>
          </p:cNvPicPr>
          <p:nvPr>
            <p:ph idx="1"/>
          </p:nvPr>
        </p:nvPicPr>
        <p:blipFill>
          <a:blip r:embed="rId2"/>
          <a:srcRect/>
          <a:stretch>
            <a:fillRect/>
          </a:stretch>
        </p:blipFill>
        <p:spPr bwMode="auto">
          <a:xfrm>
            <a:off x="762000" y="2438400"/>
            <a:ext cx="6781800" cy="281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u="sng" dirty="0" smtClean="0"/>
              <a:t>Understanding </a:t>
            </a:r>
            <a:r>
              <a:rPr lang="en-US" u="sng" dirty="0" err="1" smtClean="0"/>
              <a:t>Docstring</a:t>
            </a:r>
            <a:endParaRPr lang="en-US" u="sng" dirty="0"/>
          </a:p>
        </p:txBody>
      </p:sp>
      <p:pic>
        <p:nvPicPr>
          <p:cNvPr id="7171" name="Picture 3"/>
          <p:cNvPicPr>
            <a:picLocks noGrp="1" noChangeAspect="1" noChangeArrowheads="1"/>
          </p:cNvPicPr>
          <p:nvPr>
            <p:ph idx="1"/>
          </p:nvPr>
        </p:nvPicPr>
        <p:blipFill>
          <a:blip r:embed="rId2"/>
          <a:srcRect/>
          <a:stretch>
            <a:fillRect/>
          </a:stretch>
        </p:blipFill>
        <p:spPr bwMode="auto">
          <a:xfrm>
            <a:off x="457200" y="2286000"/>
            <a:ext cx="8229600"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Features of </a:t>
            </a:r>
            <a:r>
              <a:rPr lang="en-US" b="1" u="sng" dirty="0" err="1" smtClean="0"/>
              <a:t>docstring</a:t>
            </a:r>
            <a:r>
              <a:rPr lang="en-US" b="1" u="sng" dirty="0" smtClean="0"/>
              <a:t>: </a:t>
            </a:r>
            <a:endParaRPr lang="en-US" b="1" u="sng" dirty="0"/>
          </a:p>
        </p:txBody>
      </p:sp>
      <p:pic>
        <p:nvPicPr>
          <p:cNvPr id="6146" name="Picture 2"/>
          <p:cNvPicPr>
            <a:picLocks noGrp="1" noChangeAspect="1" noChangeArrowheads="1"/>
          </p:cNvPicPr>
          <p:nvPr>
            <p:ph idx="1"/>
          </p:nvPr>
        </p:nvPicPr>
        <p:blipFill>
          <a:blip r:embed="rId2"/>
          <a:stretch>
            <a:fillRect/>
          </a:stretch>
        </p:blipFill>
        <p:spPr bwMode="auto">
          <a:xfrm>
            <a:off x="457200" y="3810000"/>
            <a:ext cx="7620000" cy="1558198"/>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a:srcRect/>
          <a:stretch>
            <a:fillRect/>
          </a:stretch>
        </p:blipFill>
        <p:spPr bwMode="auto">
          <a:xfrm>
            <a:off x="457200" y="2286000"/>
            <a:ext cx="7772400" cy="106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Select the correct option:</a:t>
            </a:r>
            <a:endParaRPr lang="en-US" b="1" dirty="0"/>
          </a:p>
        </p:txBody>
      </p:sp>
      <p:pic>
        <p:nvPicPr>
          <p:cNvPr id="5122" name="Picture 2"/>
          <p:cNvPicPr>
            <a:picLocks noGrp="1" noChangeAspect="1" noChangeArrowheads="1"/>
          </p:cNvPicPr>
          <p:nvPr>
            <p:ph idx="1"/>
          </p:nvPr>
        </p:nvPicPr>
        <p:blipFill>
          <a:blip r:embed="rId2"/>
          <a:srcRect/>
          <a:stretch>
            <a:fillRect/>
          </a:stretch>
        </p:blipFill>
        <p:spPr bwMode="auto">
          <a:xfrm>
            <a:off x="609600" y="2286000"/>
            <a:ext cx="7772400" cy="3581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r>
              <a:rPr lang="en-US" dirty="0" smtClean="0"/>
              <a:t>Option 1,2 and 4 is correct.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Return statement</a:t>
            </a:r>
            <a:endParaRPr lang="en-US" b="1" u="sng" dirty="0"/>
          </a:p>
        </p:txBody>
      </p:sp>
      <p:pic>
        <p:nvPicPr>
          <p:cNvPr id="8195" name="Picture 3"/>
          <p:cNvPicPr>
            <a:picLocks noGrp="1" noChangeAspect="1" noChangeArrowheads="1"/>
          </p:cNvPicPr>
          <p:nvPr>
            <p:ph idx="1"/>
          </p:nvPr>
        </p:nvPicPr>
        <p:blipFill>
          <a:blip r:embed="rId2"/>
          <a:srcRect/>
          <a:stretch>
            <a:fillRect/>
          </a:stretch>
        </p:blipFill>
        <p:spPr bwMode="auto">
          <a:xfrm>
            <a:off x="381000" y="2133600"/>
            <a:ext cx="8305799" cy="3047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Features of Return statement</a:t>
            </a:r>
            <a:endParaRPr lang="en-US" b="1" u="sng" dirty="0"/>
          </a:p>
        </p:txBody>
      </p:sp>
      <p:pic>
        <p:nvPicPr>
          <p:cNvPr id="9218" name="Picture 2"/>
          <p:cNvPicPr>
            <a:picLocks noGrp="1" noChangeAspect="1" noChangeArrowheads="1"/>
          </p:cNvPicPr>
          <p:nvPr>
            <p:ph idx="1"/>
          </p:nvPr>
        </p:nvPicPr>
        <p:blipFill>
          <a:blip r:embed="rId2"/>
          <a:srcRect/>
          <a:stretch>
            <a:fillRect/>
          </a:stretch>
        </p:blipFill>
        <p:spPr bwMode="auto">
          <a:xfrm>
            <a:off x="533400" y="2286000"/>
            <a:ext cx="8077200" cy="36575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Problem statement(1.8)</a:t>
            </a:r>
            <a:endParaRPr lang="en-US" b="1" u="sng" dirty="0"/>
          </a:p>
        </p:txBody>
      </p:sp>
      <p:pic>
        <p:nvPicPr>
          <p:cNvPr id="1026" name="Picture 2"/>
          <p:cNvPicPr>
            <a:picLocks noGrp="1" noChangeAspect="1" noChangeArrowheads="1"/>
          </p:cNvPicPr>
          <p:nvPr>
            <p:ph idx="1"/>
          </p:nvPr>
        </p:nvPicPr>
        <p:blipFill>
          <a:blip r:embed="rId2"/>
          <a:srcRect/>
          <a:stretch>
            <a:fillRect/>
          </a:stretch>
        </p:blipFill>
        <p:spPr bwMode="auto">
          <a:xfrm>
            <a:off x="609600" y="2286000"/>
            <a:ext cx="8153399" cy="16772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err="1" smtClean="0"/>
              <a:t>Contd</a:t>
            </a:r>
            <a:r>
              <a:rPr lang="en-US" dirty="0" smtClean="0"/>
              <a:t>…</a:t>
            </a:r>
            <a:endParaRPr lang="en-US" dirty="0"/>
          </a:p>
        </p:txBody>
      </p:sp>
      <p:sp>
        <p:nvSpPr>
          <p:cNvPr id="4" name="Content Placeholder 3"/>
          <p:cNvSpPr>
            <a:spLocks noGrp="1"/>
          </p:cNvSpPr>
          <p:nvPr>
            <p:ph idx="1"/>
          </p:nvPr>
        </p:nvSpPr>
        <p:spPr/>
        <p:txBody>
          <a:bodyPr/>
          <a:lstStyle/>
          <a:p>
            <a:endParaRPr lang="en-US"/>
          </a:p>
        </p:txBody>
      </p:sp>
      <p:pic>
        <p:nvPicPr>
          <p:cNvPr id="1027" name="Picture 3"/>
          <p:cNvPicPr>
            <a:picLocks noChangeAspect="1" noChangeArrowheads="1"/>
          </p:cNvPicPr>
          <p:nvPr/>
        </p:nvPicPr>
        <p:blipFill>
          <a:blip r:embed="rId2"/>
          <a:srcRect/>
          <a:stretch>
            <a:fillRect/>
          </a:stretch>
        </p:blipFill>
        <p:spPr bwMode="auto">
          <a:xfrm>
            <a:off x="522288" y="1660524"/>
            <a:ext cx="8097837" cy="43592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Problem statement(1.9)</a:t>
            </a:r>
            <a:endParaRPr lang="en-US" b="1" u="sng" dirty="0"/>
          </a:p>
        </p:txBody>
      </p:sp>
      <p:pic>
        <p:nvPicPr>
          <p:cNvPr id="2050" name="Picture 2"/>
          <p:cNvPicPr>
            <a:picLocks noGrp="1" noChangeAspect="1" noChangeArrowheads="1"/>
          </p:cNvPicPr>
          <p:nvPr>
            <p:ph idx="1"/>
          </p:nvPr>
        </p:nvPicPr>
        <p:blipFill>
          <a:blip r:embed="rId2"/>
          <a:srcRect/>
          <a:stretch>
            <a:fillRect/>
          </a:stretch>
        </p:blipFill>
        <p:spPr bwMode="auto">
          <a:xfrm>
            <a:off x="533400" y="2133600"/>
            <a:ext cx="8001000"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Contd</a:t>
            </a:r>
            <a:r>
              <a:rPr lang="en-US" dirty="0" smtClean="0"/>
              <a:t>… </a:t>
            </a:r>
            <a:br>
              <a:rPr lang="en-US" dirty="0" smtClean="0"/>
            </a:br>
            <a:r>
              <a:rPr lang="en-US" dirty="0" smtClean="0"/>
              <a:t>Sample Input &amp; Output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676401" y="2286001"/>
            <a:ext cx="3600548" cy="23201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2133600" y="2209800"/>
            <a:ext cx="5181599" cy="3039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Arguments</a:t>
            </a:r>
            <a:endParaRPr lang="en-US" b="1" u="sng" dirty="0"/>
          </a:p>
        </p:txBody>
      </p:sp>
      <p:pic>
        <p:nvPicPr>
          <p:cNvPr id="5122" name="Picture 2"/>
          <p:cNvPicPr>
            <a:picLocks noGrp="1" noChangeAspect="1" noChangeArrowheads="1"/>
          </p:cNvPicPr>
          <p:nvPr>
            <p:ph idx="1"/>
          </p:nvPr>
        </p:nvPicPr>
        <p:blipFill>
          <a:blip r:embed="rId2"/>
          <a:srcRect/>
          <a:stretch>
            <a:fillRect/>
          </a:stretch>
        </p:blipFill>
        <p:spPr bwMode="auto">
          <a:xfrm>
            <a:off x="304800" y="2362200"/>
            <a:ext cx="8458200" cy="2971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Parameters</a:t>
            </a: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228600" y="2286000"/>
            <a:ext cx="8763000" cy="3124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the correct option: </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304800" y="1981200"/>
            <a:ext cx="8305800"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2000" dirty="0" smtClean="0"/>
              <a:t>Option 1,2,3 are correct. </a:t>
            </a:r>
          </a:p>
          <a:p>
            <a:endParaRPr lang="en-US" sz="20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 </a:t>
            </a:r>
            <a:endParaRPr lang="en-US" dirty="0"/>
          </a:p>
        </p:txBody>
      </p:sp>
      <p:sp>
        <p:nvSpPr>
          <p:cNvPr id="3" name="Content Placeholder 2"/>
          <p:cNvSpPr>
            <a:spLocks noGrp="1"/>
          </p:cNvSpPr>
          <p:nvPr>
            <p:ph type="body" idx="1"/>
          </p:nvPr>
        </p:nvSpPr>
        <p:spPr/>
        <p:txBody>
          <a:bodyPr>
            <a:noAutofit/>
          </a:bodyPr>
          <a:lstStyle/>
          <a:p>
            <a:pPr algn="just"/>
            <a:r>
              <a:rPr lang="en-US" sz="3200" dirty="0" smtClean="0"/>
              <a:t>Parameters occupy memory when the function execution starts and are destroyed when the function execution completes.</a:t>
            </a:r>
            <a:endParaRPr lang="en-US" sz="32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Problem statement(2.2)</a:t>
            </a: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685800" y="2743200"/>
            <a:ext cx="7772400" cy="182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1295400" y="2057400"/>
            <a:ext cx="5791200" cy="3124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Example(2.3): </a:t>
            </a:r>
            <a:br>
              <a:rPr lang="en-US" dirty="0" smtClean="0"/>
            </a:br>
            <a:r>
              <a:rPr lang="en-US" dirty="0" smtClean="0"/>
              <a:t>Write this function:</a:t>
            </a:r>
            <a:endParaRPr lang="en-US" dirty="0"/>
          </a:p>
        </p:txBody>
      </p:sp>
      <p:pic>
        <p:nvPicPr>
          <p:cNvPr id="10242" name="Picture 2"/>
          <p:cNvPicPr>
            <a:picLocks noGrp="1" noChangeAspect="1" noChangeArrowheads="1"/>
          </p:cNvPicPr>
          <p:nvPr>
            <p:ph idx="1"/>
          </p:nvPr>
        </p:nvPicPr>
        <p:blipFill>
          <a:blip r:embed="rId2"/>
          <a:srcRect/>
          <a:stretch>
            <a:fillRect/>
          </a:stretch>
        </p:blipFill>
        <p:spPr bwMode="auto">
          <a:xfrm>
            <a:off x="457200" y="2286000"/>
            <a:ext cx="8077200" cy="3352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11266" name="Picture 2"/>
          <p:cNvPicPr>
            <a:picLocks noGrp="1" noChangeAspect="1" noChangeArrowheads="1"/>
          </p:cNvPicPr>
          <p:nvPr>
            <p:ph idx="1"/>
          </p:nvPr>
        </p:nvPicPr>
        <p:blipFill>
          <a:blip r:embed="rId2"/>
          <a:srcRect/>
          <a:stretch>
            <a:fillRect/>
          </a:stretch>
        </p:blipFill>
        <p:spPr bwMode="auto">
          <a:xfrm>
            <a:off x="762000" y="2209800"/>
            <a:ext cx="7696199" cy="266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12290" name="Picture 2"/>
          <p:cNvPicPr>
            <a:picLocks noGrp="1" noChangeAspect="1" noChangeArrowheads="1"/>
          </p:cNvPicPr>
          <p:nvPr>
            <p:ph idx="1"/>
          </p:nvPr>
        </p:nvPicPr>
        <p:blipFill>
          <a:blip r:embed="rId2"/>
          <a:srcRect/>
          <a:stretch>
            <a:fillRect/>
          </a:stretch>
        </p:blipFill>
        <p:spPr bwMode="auto">
          <a:xfrm>
            <a:off x="1828800" y="2133600"/>
            <a:ext cx="5410200" cy="29718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Arguments:</a:t>
            </a:r>
            <a:endParaRPr lang="en-US" dirty="0"/>
          </a:p>
        </p:txBody>
      </p:sp>
      <p:sp>
        <p:nvSpPr>
          <p:cNvPr id="3" name="Content Placeholder 2"/>
          <p:cNvSpPr>
            <a:spLocks noGrp="1"/>
          </p:cNvSpPr>
          <p:nvPr>
            <p:ph idx="1"/>
          </p:nvPr>
        </p:nvSpPr>
        <p:spPr/>
        <p:txBody>
          <a:bodyPr/>
          <a:lstStyle/>
          <a:p>
            <a:r>
              <a:rPr lang="en-US" dirty="0" smtClean="0"/>
              <a:t>Positional Arguments</a:t>
            </a:r>
          </a:p>
          <a:p>
            <a:r>
              <a:rPr lang="en-US" dirty="0" smtClean="0"/>
              <a:t>Keyword Arguments</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Positional Arguments</a:t>
            </a:r>
            <a:endParaRPr lang="en-US" b="1" u="sng" dirty="0"/>
          </a:p>
        </p:txBody>
      </p:sp>
      <p:pic>
        <p:nvPicPr>
          <p:cNvPr id="14338" name="Picture 2"/>
          <p:cNvPicPr>
            <a:picLocks noGrp="1" noChangeAspect="1" noChangeArrowheads="1"/>
          </p:cNvPicPr>
          <p:nvPr>
            <p:ph idx="1"/>
          </p:nvPr>
        </p:nvPicPr>
        <p:blipFill>
          <a:blip r:embed="rId2"/>
          <a:srcRect/>
          <a:stretch>
            <a:fillRect/>
          </a:stretch>
        </p:blipFill>
        <p:spPr bwMode="auto">
          <a:xfrm>
            <a:off x="609600" y="2209800"/>
            <a:ext cx="7924800"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Keyword Arguments</a:t>
            </a:r>
            <a:endParaRPr lang="en-US" b="1" u="sng" dirty="0"/>
          </a:p>
        </p:txBody>
      </p:sp>
      <p:pic>
        <p:nvPicPr>
          <p:cNvPr id="15362" name="Picture 2"/>
          <p:cNvPicPr>
            <a:picLocks noGrp="1" noChangeAspect="1" noChangeArrowheads="1"/>
          </p:cNvPicPr>
          <p:nvPr>
            <p:ph idx="1"/>
          </p:nvPr>
        </p:nvPicPr>
        <p:blipFill>
          <a:blip r:embed="rId2"/>
          <a:srcRect/>
          <a:stretch>
            <a:fillRect/>
          </a:stretch>
        </p:blipFill>
        <p:spPr bwMode="auto">
          <a:xfrm>
            <a:off x="457200" y="2362200"/>
            <a:ext cx="822960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Select correct statements:</a:t>
            </a:r>
            <a:endParaRPr lang="en-US" b="1" u="sng" dirty="0"/>
          </a:p>
        </p:txBody>
      </p:sp>
      <p:pic>
        <p:nvPicPr>
          <p:cNvPr id="16386" name="Picture 2"/>
          <p:cNvPicPr>
            <a:picLocks noGrp="1" noChangeAspect="1" noChangeArrowheads="1"/>
          </p:cNvPicPr>
          <p:nvPr>
            <p:ph idx="1"/>
          </p:nvPr>
        </p:nvPicPr>
        <p:blipFill>
          <a:blip r:embed="rId2"/>
          <a:srcRect/>
          <a:stretch>
            <a:fillRect/>
          </a:stretch>
        </p:blipFill>
        <p:spPr bwMode="auto">
          <a:xfrm>
            <a:off x="609600" y="2133600"/>
            <a:ext cx="8077200"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Option 1 &amp; 2 </a:t>
            </a:r>
            <a:r>
              <a:rPr lang="en-US" smtClean="0"/>
              <a:t>are correct.</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t>Write a program to print Pascal’s </a:t>
            </a:r>
            <a:r>
              <a:rPr lang="en-US" sz="3600" b="1" dirty="0" err="1" smtClean="0"/>
              <a:t>traingle</a:t>
            </a:r>
            <a:r>
              <a:rPr lang="en-US" sz="3600" b="1" dirty="0" smtClean="0"/>
              <a:t> as shown in the example:</a:t>
            </a:r>
            <a:br>
              <a:rPr lang="en-US" sz="3600" b="1" dirty="0" smtClean="0"/>
            </a:br>
            <a:r>
              <a:rPr lang="en-US" sz="3600" b="1" dirty="0" smtClean="0"/>
              <a:t>(using function)</a:t>
            </a:r>
            <a:endParaRPr lang="en-US" sz="3600" b="1" dirty="0"/>
          </a:p>
        </p:txBody>
      </p:sp>
      <p:pic>
        <p:nvPicPr>
          <p:cNvPr id="13315" name="Picture 3"/>
          <p:cNvPicPr>
            <a:picLocks noGrp="1" noChangeAspect="1" noChangeArrowheads="1"/>
          </p:cNvPicPr>
          <p:nvPr>
            <p:ph idx="1"/>
          </p:nvPr>
        </p:nvPicPr>
        <p:blipFill>
          <a:blip r:embed="rId2"/>
          <a:srcRect/>
          <a:stretch>
            <a:fillRect/>
          </a:stretch>
        </p:blipFill>
        <p:spPr bwMode="auto">
          <a:xfrm>
            <a:off x="2438400" y="2362200"/>
            <a:ext cx="3810000" cy="281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295400" y="2057400"/>
            <a:ext cx="6324600"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2209800" y="2819400"/>
            <a:ext cx="4572000"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US" dirty="0" smtClean="0"/>
              <a:t>Steps:</a:t>
            </a:r>
            <a:endParaRPr lang="en-US" dirty="0"/>
          </a:p>
        </p:txBody>
      </p:sp>
      <p:sp>
        <p:nvSpPr>
          <p:cNvPr id="3" name="Content Placeholder 2"/>
          <p:cNvSpPr>
            <a:spLocks noGrp="1"/>
          </p:cNvSpPr>
          <p:nvPr>
            <p:ph idx="1"/>
          </p:nvPr>
        </p:nvSpPr>
        <p:spPr>
          <a:xfrm>
            <a:off x="457200" y="1295400"/>
            <a:ext cx="8229600" cy="5029200"/>
          </a:xfrm>
        </p:spPr>
        <p:txBody>
          <a:bodyPr>
            <a:normAutofit fontScale="92500" lnSpcReduction="10000"/>
          </a:bodyPr>
          <a:lstStyle/>
          <a:p>
            <a:r>
              <a:rPr lang="en-US" dirty="0" err="1" smtClean="0"/>
              <a:t>printPascal</a:t>
            </a:r>
            <a:r>
              <a:rPr lang="en-US" dirty="0" smtClean="0"/>
              <a:t>(num) : function takes one argument num, which represents the number of rows of Pascal's Triangle to generate and print.</a:t>
            </a:r>
          </a:p>
          <a:p>
            <a:endParaRPr lang="en-US" dirty="0" smtClean="0"/>
          </a:p>
          <a:p>
            <a:r>
              <a:rPr lang="en-US" dirty="0" smtClean="0"/>
              <a:t>It initializes a list row with a single element, 1, representing the first row of Pascal's Triangle.</a:t>
            </a:r>
          </a:p>
          <a:p>
            <a:pPr>
              <a:buNone/>
            </a:pPr>
            <a:endParaRPr lang="en-US" dirty="0" smtClean="0"/>
          </a:p>
          <a:p>
            <a:r>
              <a:rPr lang="en-US" dirty="0" smtClean="0"/>
              <a:t>It then calls the </a:t>
            </a:r>
            <a:r>
              <a:rPr lang="en-US" dirty="0" err="1" smtClean="0"/>
              <a:t>print_row</a:t>
            </a:r>
            <a:r>
              <a:rPr lang="en-US" dirty="0" smtClean="0"/>
              <a:t>(row) function to print the first row.</a:t>
            </a:r>
          </a:p>
          <a:p>
            <a:pPr>
              <a:buNone/>
            </a:pPr>
            <a:endParaRPr lang="en-US" dirty="0" smtClean="0"/>
          </a:p>
          <a:p>
            <a:r>
              <a:rPr lang="en-US" dirty="0" smtClean="0"/>
              <a:t>Next, it enters a loop that iterates num-1 times (one less than the specified number of rows to account for the first row that has already been printed).</a:t>
            </a:r>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smtClean="0"/>
              <a:t>…</a:t>
            </a:r>
            <a:endParaRPr lang="en-US" dirty="0"/>
          </a:p>
        </p:txBody>
      </p:sp>
      <p:sp>
        <p:nvSpPr>
          <p:cNvPr id="3" name="Content Placeholder 2"/>
          <p:cNvSpPr>
            <a:spLocks noGrp="1"/>
          </p:cNvSpPr>
          <p:nvPr>
            <p:ph idx="1"/>
          </p:nvPr>
        </p:nvSpPr>
        <p:spPr>
          <a:xfrm>
            <a:off x="457200" y="2057400"/>
            <a:ext cx="8229600" cy="4389120"/>
          </a:xfrm>
        </p:spPr>
        <p:txBody>
          <a:bodyPr/>
          <a:lstStyle/>
          <a:p>
            <a:r>
              <a:rPr lang="en-US" dirty="0" smtClean="0"/>
              <a:t>Inside the loop, it initializes a new list </a:t>
            </a:r>
            <a:r>
              <a:rPr lang="en-US" dirty="0" err="1" smtClean="0"/>
              <a:t>next_row</a:t>
            </a:r>
            <a:r>
              <a:rPr lang="en-US" dirty="0" smtClean="0"/>
              <a:t> with a single 1, representing the first element of the next row.</a:t>
            </a:r>
          </a:p>
          <a:p>
            <a:endParaRPr lang="en-US" dirty="0" smtClean="0"/>
          </a:p>
          <a:p>
            <a:r>
              <a:rPr lang="en-US" dirty="0" smtClean="0"/>
              <a:t>It then enters another loop that iterates through the elements of the row list (the previous row) starting from the second element (index 1) and calculates the sum of the current element and the element immediately before it. These sums are appended to the </a:t>
            </a:r>
            <a:r>
              <a:rPr lang="en-US" dirty="0" err="1" smtClean="0"/>
              <a:t>next_row</a:t>
            </a:r>
            <a:r>
              <a:rPr lang="en-US" dirty="0" smtClean="0"/>
              <a:t> list.</a:t>
            </a: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smtClean="0"/>
              <a:t>After calculating and appending all the values for the current row, it appends a final 1 to the </a:t>
            </a:r>
            <a:r>
              <a:rPr lang="en-US" dirty="0" err="1" smtClean="0"/>
              <a:t>next_row</a:t>
            </a:r>
            <a:r>
              <a:rPr lang="en-US" dirty="0" smtClean="0"/>
              <a:t> list since the last element of every row in Pascal's Triangle is always 1.</a:t>
            </a:r>
          </a:p>
          <a:p>
            <a:r>
              <a:rPr lang="en-US" dirty="0" smtClean="0"/>
              <a:t>It calls the </a:t>
            </a:r>
            <a:r>
              <a:rPr lang="en-US" dirty="0" err="1" smtClean="0"/>
              <a:t>print_row</a:t>
            </a:r>
            <a:r>
              <a:rPr lang="en-US" dirty="0" smtClean="0"/>
              <a:t>(</a:t>
            </a:r>
            <a:r>
              <a:rPr lang="en-US" dirty="0" err="1" smtClean="0"/>
              <a:t>next_row</a:t>
            </a:r>
            <a:r>
              <a:rPr lang="en-US" dirty="0" smtClean="0"/>
              <a:t>) function to print the current row.</a:t>
            </a:r>
          </a:p>
          <a:p>
            <a:r>
              <a:rPr lang="en-US" dirty="0" smtClean="0"/>
              <a:t>Finally, it updates the row variable to be the </a:t>
            </a:r>
            <a:r>
              <a:rPr lang="en-US" dirty="0" err="1" smtClean="0"/>
              <a:t>next_row</a:t>
            </a:r>
            <a:r>
              <a:rPr lang="en-US" dirty="0" smtClean="0"/>
              <a:t> for the next iteration of the loop.</a:t>
            </a:r>
          </a:p>
          <a:p>
            <a:pPr>
              <a:buNone/>
            </a:pP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smtClean="0"/>
              <a:t>The </a:t>
            </a:r>
            <a:r>
              <a:rPr lang="en-US" dirty="0" err="1" smtClean="0"/>
              <a:t>print_row</a:t>
            </a:r>
            <a:r>
              <a:rPr lang="en-US" dirty="0" smtClean="0"/>
              <a:t>(row) function is defined separately to print a given row. It takes a list row as input and iterates through its elements, printing each number with a space between them and a newline character at the end to move to the next row.</a:t>
            </a:r>
          </a:p>
          <a:p>
            <a:r>
              <a:rPr lang="en-US" dirty="0" smtClean="0"/>
              <a:t>Outside of the function definitions, it prompts the user to enter the number of rows they want to generate (n) using the input() function.</a:t>
            </a:r>
          </a:p>
          <a:p>
            <a:r>
              <a:rPr lang="en-US" dirty="0" smtClean="0"/>
              <a:t>It calls the </a:t>
            </a:r>
            <a:r>
              <a:rPr lang="en-US" dirty="0" err="1" smtClean="0"/>
              <a:t>printPascal</a:t>
            </a:r>
            <a:r>
              <a:rPr lang="en-US" dirty="0" smtClean="0"/>
              <a:t>(n) function with the user's input to generate and print the specified number of rows of Pascal's Triangle</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Default Arguments</a:t>
            </a:r>
            <a:endParaRPr lang="en-US" b="1" dirty="0"/>
          </a:p>
        </p:txBody>
      </p:sp>
      <p:pic>
        <p:nvPicPr>
          <p:cNvPr id="1026" name="Picture 2"/>
          <p:cNvPicPr>
            <a:picLocks noGrp="1" noChangeAspect="1" noChangeArrowheads="1"/>
          </p:cNvPicPr>
          <p:nvPr>
            <p:ph idx="1"/>
          </p:nvPr>
        </p:nvPicPr>
        <p:blipFill>
          <a:blip r:embed="rId2"/>
          <a:srcRect/>
          <a:stretch>
            <a:fillRect/>
          </a:stretch>
        </p:blipFill>
        <p:spPr bwMode="auto">
          <a:xfrm>
            <a:off x="381000" y="2133600"/>
            <a:ext cx="8382000" cy="3581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Contd</a:t>
            </a:r>
            <a:r>
              <a:rPr lang="en-US" dirty="0" smtClean="0"/>
              <a:t>…</a:t>
            </a:r>
            <a:br>
              <a:rPr lang="en-US" dirty="0" smtClean="0"/>
            </a:br>
            <a:r>
              <a:rPr lang="en-US" b="1" u="sng" dirty="0" smtClean="0"/>
              <a:t>Key points:</a:t>
            </a:r>
            <a:endParaRPr lang="en-US" b="1" u="sng" dirty="0"/>
          </a:p>
        </p:txBody>
      </p:sp>
      <p:pic>
        <p:nvPicPr>
          <p:cNvPr id="6146" name="Picture 2"/>
          <p:cNvPicPr>
            <a:picLocks noGrp="1" noChangeAspect="1" noChangeArrowheads="1"/>
          </p:cNvPicPr>
          <p:nvPr>
            <p:ph idx="1"/>
          </p:nvPr>
        </p:nvPicPr>
        <p:blipFill>
          <a:blip r:embed="rId2"/>
          <a:srcRect/>
          <a:stretch>
            <a:fillRect/>
          </a:stretch>
        </p:blipFill>
        <p:spPr bwMode="auto">
          <a:xfrm>
            <a:off x="457200" y="1981200"/>
            <a:ext cx="8382000" cy="3733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Problem statement(3.1)</a:t>
            </a:r>
            <a:endParaRPr lang="en-US" b="1" dirty="0"/>
          </a:p>
        </p:txBody>
      </p:sp>
      <p:pic>
        <p:nvPicPr>
          <p:cNvPr id="2050" name="Picture 2"/>
          <p:cNvPicPr>
            <a:picLocks noGrp="1" noChangeAspect="1" noChangeArrowheads="1"/>
          </p:cNvPicPr>
          <p:nvPr>
            <p:ph idx="1"/>
          </p:nvPr>
        </p:nvPicPr>
        <p:blipFill>
          <a:blip r:embed="rId2"/>
          <a:srcRect/>
          <a:stretch>
            <a:fillRect/>
          </a:stretch>
        </p:blipFill>
        <p:spPr bwMode="auto">
          <a:xfrm>
            <a:off x="533400" y="2133600"/>
            <a:ext cx="8305800" cy="3505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3074" name="Picture 2"/>
          <p:cNvPicPr>
            <a:picLocks noGrp="1" noChangeAspect="1" noChangeArrowheads="1"/>
          </p:cNvPicPr>
          <p:nvPr>
            <p:ph idx="4294967295"/>
          </p:nvPr>
        </p:nvPicPr>
        <p:blipFill>
          <a:blip r:embed="rId2"/>
          <a:srcRect/>
          <a:stretch>
            <a:fillRect/>
          </a:stretch>
        </p:blipFill>
        <p:spPr bwMode="auto">
          <a:xfrm>
            <a:off x="1828800" y="2667000"/>
            <a:ext cx="4095750" cy="30591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Problem statement(3.2)</a:t>
            </a:r>
            <a:endParaRPr lang="en-US" b="1" dirty="0"/>
          </a:p>
        </p:txBody>
      </p:sp>
      <p:pic>
        <p:nvPicPr>
          <p:cNvPr id="4098" name="Picture 2"/>
          <p:cNvPicPr>
            <a:picLocks noGrp="1" noChangeAspect="1" noChangeArrowheads="1"/>
          </p:cNvPicPr>
          <p:nvPr>
            <p:ph idx="1"/>
          </p:nvPr>
        </p:nvPicPr>
        <p:blipFill>
          <a:blip r:embed="rId2"/>
          <a:srcRect/>
          <a:stretch>
            <a:fillRect/>
          </a:stretch>
        </p:blipFill>
        <p:spPr bwMode="auto">
          <a:xfrm>
            <a:off x="381000" y="1981200"/>
            <a:ext cx="8458200" cy="3505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5122" name="Picture 2"/>
          <p:cNvPicPr>
            <a:picLocks noGrp="1" noChangeAspect="1" noChangeArrowheads="1"/>
          </p:cNvPicPr>
          <p:nvPr>
            <p:ph idx="4294967295"/>
          </p:nvPr>
        </p:nvPicPr>
        <p:blipFill>
          <a:blip r:embed="rId2"/>
          <a:srcRect/>
          <a:stretch>
            <a:fillRect/>
          </a:stretch>
        </p:blipFill>
        <p:spPr bwMode="auto">
          <a:xfrm>
            <a:off x="1219200" y="2743200"/>
            <a:ext cx="6096000"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the correct statement</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609600" y="2438400"/>
            <a:ext cx="7924800" cy="3124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Option 1,3,4 are correct</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p>
            <a:pPr algn="ctr"/>
            <a:r>
              <a:rPr lang="en-US" b="1" dirty="0" smtClean="0"/>
              <a:t>Problem statement(3.4)</a:t>
            </a:r>
            <a:endParaRPr lang="en-US" b="1" dirty="0"/>
          </a:p>
        </p:txBody>
      </p:sp>
      <p:pic>
        <p:nvPicPr>
          <p:cNvPr id="8194" name="Picture 2"/>
          <p:cNvPicPr>
            <a:picLocks noGrp="1" noChangeAspect="1" noChangeArrowheads="1"/>
          </p:cNvPicPr>
          <p:nvPr>
            <p:ph idx="1"/>
          </p:nvPr>
        </p:nvPicPr>
        <p:blipFill>
          <a:blip r:embed="rId2"/>
          <a:srcRect/>
          <a:stretch>
            <a:fillRect/>
          </a:stretch>
        </p:blipFill>
        <p:spPr bwMode="auto">
          <a:xfrm>
            <a:off x="533400" y="2057400"/>
            <a:ext cx="8077199" cy="3962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762000" y="2209800"/>
            <a:ext cx="7772400" cy="36300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10242" name="Picture 2"/>
          <p:cNvPicPr>
            <a:picLocks noGrp="1" noChangeAspect="1" noChangeArrowheads="1"/>
          </p:cNvPicPr>
          <p:nvPr>
            <p:ph idx="4294967295"/>
          </p:nvPr>
        </p:nvPicPr>
        <p:blipFill>
          <a:blip r:embed="rId2"/>
          <a:srcRect/>
          <a:stretch>
            <a:fillRect/>
          </a:stretch>
        </p:blipFill>
        <p:spPr bwMode="auto">
          <a:xfrm>
            <a:off x="838200" y="2895600"/>
            <a:ext cx="640080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Arbitrary/ Variable Length Arguments:</a:t>
            </a:r>
            <a:endParaRPr lang="en-US" b="1" dirty="0"/>
          </a:p>
        </p:txBody>
      </p:sp>
      <p:pic>
        <p:nvPicPr>
          <p:cNvPr id="11266" name="Picture 2"/>
          <p:cNvPicPr>
            <a:picLocks noGrp="1" noChangeAspect="1" noChangeArrowheads="1"/>
          </p:cNvPicPr>
          <p:nvPr>
            <p:ph idx="1"/>
          </p:nvPr>
        </p:nvPicPr>
        <p:blipFill>
          <a:blip r:embed="rId2"/>
          <a:srcRect/>
          <a:stretch>
            <a:fillRect/>
          </a:stretch>
        </p:blipFill>
        <p:spPr bwMode="auto">
          <a:xfrm>
            <a:off x="304800" y="1905000"/>
            <a:ext cx="8686800" cy="4495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the correct statement:</a:t>
            </a:r>
            <a:endParaRPr lang="en-US" dirty="0"/>
          </a:p>
        </p:txBody>
      </p:sp>
      <p:pic>
        <p:nvPicPr>
          <p:cNvPr id="12290" name="Picture 2"/>
          <p:cNvPicPr>
            <a:picLocks noGrp="1" noChangeAspect="1" noChangeArrowheads="1"/>
          </p:cNvPicPr>
          <p:nvPr>
            <p:ph idx="1"/>
          </p:nvPr>
        </p:nvPicPr>
        <p:blipFill>
          <a:blip r:embed="rId2"/>
          <a:srcRect/>
          <a:stretch>
            <a:fillRect/>
          </a:stretch>
        </p:blipFill>
        <p:spPr bwMode="auto">
          <a:xfrm>
            <a:off x="381000" y="2286000"/>
            <a:ext cx="85344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Option 1 &amp;2 are correct</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Anonymous functions</a:t>
            </a:r>
            <a:endParaRPr lang="en-US" b="1" u="sng" dirty="0"/>
          </a:p>
        </p:txBody>
      </p:sp>
      <p:pic>
        <p:nvPicPr>
          <p:cNvPr id="13314" name="Picture 2"/>
          <p:cNvPicPr>
            <a:picLocks noGrp="1" noChangeAspect="1" noChangeArrowheads="1"/>
          </p:cNvPicPr>
          <p:nvPr>
            <p:ph idx="1"/>
          </p:nvPr>
        </p:nvPicPr>
        <p:blipFill>
          <a:blip r:embed="rId2"/>
          <a:srcRect/>
          <a:stretch>
            <a:fillRect/>
          </a:stretch>
        </p:blipFill>
        <p:spPr bwMode="auto">
          <a:xfrm>
            <a:off x="533400" y="2286000"/>
            <a:ext cx="8001000"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of Lambda Function</a:t>
            </a:r>
            <a:endParaRPr lang="en-US" dirty="0"/>
          </a:p>
        </p:txBody>
      </p:sp>
      <p:pic>
        <p:nvPicPr>
          <p:cNvPr id="15362" name="Picture 2"/>
          <p:cNvPicPr>
            <a:picLocks noGrp="1" noChangeAspect="1" noChangeArrowheads="1"/>
          </p:cNvPicPr>
          <p:nvPr>
            <p:ph idx="1"/>
          </p:nvPr>
        </p:nvPicPr>
        <p:blipFill>
          <a:blip r:embed="rId2"/>
          <a:srcRect/>
          <a:stretch>
            <a:fillRect/>
          </a:stretch>
        </p:blipFill>
        <p:spPr bwMode="auto">
          <a:xfrm>
            <a:off x="533400" y="2133600"/>
            <a:ext cx="8153400" cy="3428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the correct option:</a:t>
            </a:r>
            <a:endParaRPr lang="en-US" dirty="0"/>
          </a:p>
        </p:txBody>
      </p:sp>
      <p:pic>
        <p:nvPicPr>
          <p:cNvPr id="14338" name="Picture 2"/>
          <p:cNvPicPr>
            <a:picLocks noGrp="1" noChangeAspect="1" noChangeArrowheads="1"/>
          </p:cNvPicPr>
          <p:nvPr>
            <p:ph idx="1"/>
          </p:nvPr>
        </p:nvPicPr>
        <p:blipFill>
          <a:blip r:embed="rId2"/>
          <a:srcRect/>
          <a:stretch>
            <a:fillRect/>
          </a:stretch>
        </p:blipFill>
        <p:spPr bwMode="auto">
          <a:xfrm>
            <a:off x="457200" y="2286000"/>
            <a:ext cx="7924800"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Option: 1,2,4 are correct</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Problem statement(4.2)</a:t>
            </a:r>
            <a:endParaRPr lang="en-US" b="1" u="sng" dirty="0"/>
          </a:p>
        </p:txBody>
      </p:sp>
      <p:pic>
        <p:nvPicPr>
          <p:cNvPr id="16386" name="Picture 2"/>
          <p:cNvPicPr>
            <a:picLocks noGrp="1" noChangeAspect="1" noChangeArrowheads="1"/>
          </p:cNvPicPr>
          <p:nvPr>
            <p:ph idx="1"/>
          </p:nvPr>
        </p:nvPicPr>
        <p:blipFill>
          <a:blip r:embed="rId2"/>
          <a:srcRect/>
          <a:stretch>
            <a:fillRect/>
          </a:stretch>
        </p:blipFill>
        <p:spPr bwMode="auto">
          <a:xfrm>
            <a:off x="457200" y="2057400"/>
            <a:ext cx="84582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17410" name="Picture 2"/>
          <p:cNvPicPr>
            <a:picLocks noGrp="1" noChangeAspect="1" noChangeArrowheads="1"/>
          </p:cNvPicPr>
          <p:nvPr>
            <p:ph idx="4294967295"/>
          </p:nvPr>
        </p:nvPicPr>
        <p:blipFill>
          <a:blip r:embed="rId2"/>
          <a:srcRect/>
          <a:stretch>
            <a:fillRect/>
          </a:stretch>
        </p:blipFill>
        <p:spPr bwMode="auto">
          <a:xfrm>
            <a:off x="304800" y="2971800"/>
            <a:ext cx="830580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Problem statement(4.3)</a:t>
            </a:r>
            <a:endParaRPr lang="en-US" b="1" u="sng" dirty="0"/>
          </a:p>
        </p:txBody>
      </p:sp>
      <p:pic>
        <p:nvPicPr>
          <p:cNvPr id="18434" name="Picture 2"/>
          <p:cNvPicPr>
            <a:picLocks noGrp="1" noChangeAspect="1" noChangeArrowheads="1"/>
          </p:cNvPicPr>
          <p:nvPr>
            <p:ph idx="1"/>
          </p:nvPr>
        </p:nvPicPr>
        <p:blipFill>
          <a:blip r:embed="rId2"/>
          <a:srcRect/>
          <a:stretch>
            <a:fillRect/>
          </a:stretch>
        </p:blipFill>
        <p:spPr bwMode="auto">
          <a:xfrm>
            <a:off x="304800" y="2362200"/>
            <a:ext cx="8610600" cy="23106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19458" name="Picture 2"/>
          <p:cNvPicPr>
            <a:picLocks noGrp="1" noChangeAspect="1" noChangeArrowheads="1"/>
          </p:cNvPicPr>
          <p:nvPr>
            <p:ph idx="4294967295"/>
          </p:nvPr>
        </p:nvPicPr>
        <p:blipFill>
          <a:blip r:embed="rId2"/>
          <a:srcRect/>
          <a:stretch>
            <a:fillRect/>
          </a:stretch>
        </p:blipFill>
        <p:spPr bwMode="auto">
          <a:xfrm>
            <a:off x="762000" y="2895600"/>
            <a:ext cx="6553200" cy="2463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15112"/>
          </a:xfrm>
        </p:spPr>
        <p:txBody>
          <a:bodyPr>
            <a:normAutofit fontScale="90000"/>
          </a:bodyPr>
          <a:lstStyle/>
          <a:p>
            <a:pPr algn="ctr"/>
            <a:r>
              <a:rPr lang="en-US" b="1" u="sng" dirty="0" smtClean="0"/>
              <a:t>Understanding Map Function</a:t>
            </a:r>
            <a:endParaRPr lang="en-US" b="1" u="sng" dirty="0"/>
          </a:p>
        </p:txBody>
      </p:sp>
      <p:pic>
        <p:nvPicPr>
          <p:cNvPr id="20482" name="Picture 2"/>
          <p:cNvPicPr>
            <a:picLocks noGrp="1" noChangeAspect="1" noChangeArrowheads="1"/>
          </p:cNvPicPr>
          <p:nvPr>
            <p:ph idx="1"/>
          </p:nvPr>
        </p:nvPicPr>
        <p:blipFill>
          <a:blip r:embed="rId2"/>
          <a:srcRect/>
          <a:stretch>
            <a:fillRect/>
          </a:stretch>
        </p:blipFill>
        <p:spPr bwMode="auto">
          <a:xfrm>
            <a:off x="304800" y="1143000"/>
            <a:ext cx="8077200" cy="838200"/>
          </a:xfrm>
          <a:prstGeom prst="rect">
            <a:avLst/>
          </a:prstGeom>
          <a:noFill/>
          <a:ln w="9525">
            <a:noFill/>
            <a:miter lim="800000"/>
            <a:headEnd/>
            <a:tailEnd/>
          </a:ln>
          <a:effectLst/>
        </p:spPr>
      </p:pic>
      <p:pic>
        <p:nvPicPr>
          <p:cNvPr id="20483" name="Picture 3"/>
          <p:cNvPicPr>
            <a:picLocks noChangeAspect="1" noChangeArrowheads="1"/>
          </p:cNvPicPr>
          <p:nvPr/>
        </p:nvPicPr>
        <p:blipFill>
          <a:blip r:embed="rId3"/>
          <a:srcRect/>
          <a:stretch>
            <a:fillRect/>
          </a:stretch>
        </p:blipFill>
        <p:spPr bwMode="auto">
          <a:xfrm>
            <a:off x="533400" y="1828800"/>
            <a:ext cx="6172200" cy="502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Problem statement (4.4)</a:t>
            </a:r>
            <a:endParaRPr lang="en-US" b="1" dirty="0"/>
          </a:p>
        </p:txBody>
      </p:sp>
      <p:pic>
        <p:nvPicPr>
          <p:cNvPr id="1026" name="Picture 2"/>
          <p:cNvPicPr>
            <a:picLocks noGrp="1" noChangeAspect="1" noChangeArrowheads="1"/>
          </p:cNvPicPr>
          <p:nvPr>
            <p:ph idx="1"/>
          </p:nvPr>
        </p:nvPicPr>
        <p:blipFill>
          <a:blip r:embed="rId2"/>
          <a:srcRect/>
          <a:stretch>
            <a:fillRect/>
          </a:stretch>
        </p:blipFill>
        <p:spPr bwMode="auto">
          <a:xfrm>
            <a:off x="762000" y="2209800"/>
            <a:ext cx="7315199" cy="33528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4876800" y="3352800"/>
            <a:ext cx="3124200" cy="2514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990600"/>
          </a:xfrm>
        </p:spPr>
        <p:txBody>
          <a:bodyPr/>
          <a:lstStyle/>
          <a:p>
            <a:pPr algn="l"/>
            <a:r>
              <a:rPr lang="en-US" dirty="0" err="1" smtClean="0"/>
              <a:t>Contd</a:t>
            </a:r>
            <a:r>
              <a:rPr lang="en-US" dirty="0" smtClean="0"/>
              <a:t>…</a:t>
            </a:r>
            <a:endParaRPr lang="en-US" dirty="0"/>
          </a:p>
        </p:txBody>
      </p:sp>
      <p:pic>
        <p:nvPicPr>
          <p:cNvPr id="2050" name="Picture 2"/>
          <p:cNvPicPr>
            <a:picLocks noGrp="1" noChangeAspect="1" noChangeArrowheads="1"/>
          </p:cNvPicPr>
          <p:nvPr>
            <p:ph idx="4294967295"/>
          </p:nvPr>
        </p:nvPicPr>
        <p:blipFill>
          <a:blip r:embed="rId2"/>
          <a:stretch>
            <a:fillRect/>
          </a:stretch>
        </p:blipFill>
        <p:spPr bwMode="auto">
          <a:xfrm>
            <a:off x="1524000" y="2514600"/>
            <a:ext cx="5972175" cy="27828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 Function:-</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609600" y="2209800"/>
            <a:ext cx="8001000" cy="3428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685800" y="2286000"/>
            <a:ext cx="76200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Problem statement(4.5)</a:t>
            </a:r>
            <a:endParaRPr lang="en-US" b="1" u="sng" dirty="0"/>
          </a:p>
        </p:txBody>
      </p:sp>
      <p:pic>
        <p:nvPicPr>
          <p:cNvPr id="5122" name="Picture 2"/>
          <p:cNvPicPr>
            <a:picLocks noGrp="1" noChangeAspect="1" noChangeArrowheads="1"/>
          </p:cNvPicPr>
          <p:nvPr>
            <p:ph idx="1"/>
          </p:nvPr>
        </p:nvPicPr>
        <p:blipFill>
          <a:blip r:embed="rId2"/>
          <a:srcRect/>
          <a:stretch>
            <a:fillRect/>
          </a:stretch>
        </p:blipFill>
        <p:spPr bwMode="auto">
          <a:xfrm>
            <a:off x="457200" y="1905000"/>
            <a:ext cx="8458200" cy="3352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Contd</a:t>
            </a:r>
            <a:r>
              <a:rPr lang="en-US" dirty="0" smtClean="0"/>
              <a:t>…</a:t>
            </a:r>
            <a:endParaRPr lang="en-US" dirty="0"/>
          </a:p>
        </p:txBody>
      </p:sp>
      <p:sp>
        <p:nvSpPr>
          <p:cNvPr id="4" name="Subtitle 3"/>
          <p:cNvSpPr>
            <a:spLocks noGrp="1"/>
          </p:cNvSpPr>
          <p:nvPr>
            <p:ph type="subTitle" idx="1"/>
          </p:nvPr>
        </p:nvSpPr>
        <p:spPr/>
        <p:txBody>
          <a:bodyPr/>
          <a:lstStyle/>
          <a:p>
            <a:endParaRPr lang="en-US"/>
          </a:p>
        </p:txBody>
      </p:sp>
      <p:pic>
        <p:nvPicPr>
          <p:cNvPr id="6146" name="Picture 2"/>
          <p:cNvPicPr>
            <a:picLocks noGrp="1" noChangeAspect="1" noChangeArrowheads="1"/>
          </p:cNvPicPr>
          <p:nvPr>
            <p:ph idx="4294967295"/>
          </p:nvPr>
        </p:nvPicPr>
        <p:blipFill>
          <a:blip r:embed="rId2"/>
          <a:srcRect/>
          <a:stretch>
            <a:fillRect/>
          </a:stretch>
        </p:blipFill>
        <p:spPr bwMode="auto">
          <a:xfrm>
            <a:off x="685800" y="2286000"/>
            <a:ext cx="7620000"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Fruitful Function</a:t>
            </a:r>
            <a:endParaRPr lang="en-US" b="1" u="sng" dirty="0"/>
          </a:p>
        </p:txBody>
      </p:sp>
      <p:pic>
        <p:nvPicPr>
          <p:cNvPr id="1026" name="Picture 2"/>
          <p:cNvPicPr>
            <a:picLocks noGrp="1" noChangeAspect="1" noChangeArrowheads="1"/>
          </p:cNvPicPr>
          <p:nvPr>
            <p:ph idx="1"/>
          </p:nvPr>
        </p:nvPicPr>
        <p:blipFill>
          <a:blip r:embed="rId2"/>
          <a:srcRect/>
          <a:stretch>
            <a:fillRect/>
          </a:stretch>
        </p:blipFill>
        <p:spPr bwMode="auto">
          <a:xfrm>
            <a:off x="381000" y="2057400"/>
            <a:ext cx="8534400"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the correct option:</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381000" y="1981200"/>
            <a:ext cx="8534399" cy="4114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Option 1,2,3 </a:t>
            </a:r>
            <a:r>
              <a:rPr lang="en-US" smtClean="0"/>
              <a:t>are correct.</a:t>
            </a:r>
            <a:endParaRPr 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Local Variables</a:t>
            </a:r>
            <a:endParaRPr lang="en-US" b="1" u="sng" dirty="0"/>
          </a:p>
        </p:txBody>
      </p:sp>
      <p:pic>
        <p:nvPicPr>
          <p:cNvPr id="1027" name="Picture 3"/>
          <p:cNvPicPr>
            <a:picLocks noGrp="1" noChangeAspect="1" noChangeArrowheads="1"/>
          </p:cNvPicPr>
          <p:nvPr>
            <p:ph idx="1"/>
          </p:nvPr>
        </p:nvPicPr>
        <p:blipFill>
          <a:blip r:embed="rId2"/>
          <a:stretch>
            <a:fillRect/>
          </a:stretch>
        </p:blipFill>
        <p:spPr bwMode="auto">
          <a:xfrm>
            <a:off x="533400" y="2667000"/>
            <a:ext cx="7696200" cy="20963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lstStyle/>
          <a:p>
            <a:pPr algn="ctr"/>
            <a:r>
              <a:rPr lang="en-US" b="1" u="sng" dirty="0" smtClean="0"/>
              <a:t>Problem statement(6.1)</a:t>
            </a:r>
            <a:endParaRPr lang="en-US" b="1" u="sng" dirty="0"/>
          </a:p>
        </p:txBody>
      </p:sp>
      <p:pic>
        <p:nvPicPr>
          <p:cNvPr id="2050" name="Picture 2"/>
          <p:cNvPicPr>
            <a:picLocks noGrp="1" noChangeAspect="1" noChangeArrowheads="1"/>
          </p:cNvPicPr>
          <p:nvPr>
            <p:ph idx="1"/>
          </p:nvPr>
        </p:nvPicPr>
        <p:blipFill>
          <a:blip r:embed="rId2"/>
          <a:srcRect/>
          <a:stretch>
            <a:fillRect/>
          </a:stretch>
        </p:blipFill>
        <p:spPr bwMode="auto">
          <a:xfrm>
            <a:off x="381000" y="1600200"/>
            <a:ext cx="8229600" cy="3200399"/>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57200" y="5029200"/>
            <a:ext cx="8077200" cy="114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4294967295"/>
          </p:nvPr>
        </p:nvPicPr>
        <p:blipFill>
          <a:blip r:embed="rId2"/>
          <a:srcRect/>
          <a:stretch>
            <a:fillRect/>
          </a:stretch>
        </p:blipFill>
        <p:spPr bwMode="auto">
          <a:xfrm>
            <a:off x="2057400" y="1600200"/>
            <a:ext cx="4724400" cy="3886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04088"/>
            <a:ext cx="8382000" cy="1143000"/>
          </a:xfrm>
        </p:spPr>
        <p:txBody>
          <a:bodyPr/>
          <a:lstStyle/>
          <a:p>
            <a:pPr algn="ctr"/>
            <a:r>
              <a:rPr lang="en-US" b="1" u="sng" dirty="0" smtClean="0"/>
              <a:t>Global Variables</a:t>
            </a:r>
            <a:endParaRPr lang="en-US" b="1" u="sng" dirty="0"/>
          </a:p>
        </p:txBody>
      </p:sp>
      <p:pic>
        <p:nvPicPr>
          <p:cNvPr id="3074" name="Picture 2"/>
          <p:cNvPicPr>
            <a:picLocks noGrp="1" noChangeAspect="1" noChangeArrowheads="1"/>
          </p:cNvPicPr>
          <p:nvPr>
            <p:ph idx="1"/>
          </p:nvPr>
        </p:nvPicPr>
        <p:blipFill>
          <a:blip r:embed="rId2"/>
          <a:srcRect/>
          <a:stretch>
            <a:fillRect/>
          </a:stretch>
        </p:blipFill>
        <p:spPr bwMode="auto">
          <a:xfrm>
            <a:off x="228600" y="2133600"/>
            <a:ext cx="8610600" cy="3733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Example</a:t>
            </a:r>
            <a:endParaRPr lang="en-US" b="1" dirty="0"/>
          </a:p>
        </p:txBody>
      </p:sp>
      <p:pic>
        <p:nvPicPr>
          <p:cNvPr id="4098" name="Picture 2"/>
          <p:cNvPicPr>
            <a:picLocks noGrp="1" noChangeAspect="1" noChangeArrowheads="1"/>
          </p:cNvPicPr>
          <p:nvPr>
            <p:ph idx="1"/>
          </p:nvPr>
        </p:nvPicPr>
        <p:blipFill>
          <a:blip r:embed="rId2"/>
          <a:srcRect/>
          <a:stretch>
            <a:fillRect/>
          </a:stretch>
        </p:blipFill>
        <p:spPr bwMode="auto">
          <a:xfrm>
            <a:off x="533400" y="1981200"/>
            <a:ext cx="8077199"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t>Follow these instructions and write the Python code(6.2)</a:t>
            </a:r>
            <a:endParaRPr lang="en-US" b="1" u="sng" dirty="0"/>
          </a:p>
        </p:txBody>
      </p:sp>
      <p:pic>
        <p:nvPicPr>
          <p:cNvPr id="5122" name="Picture 2"/>
          <p:cNvPicPr>
            <a:picLocks noGrp="1" noChangeAspect="1" noChangeArrowheads="1"/>
          </p:cNvPicPr>
          <p:nvPr>
            <p:ph idx="1"/>
          </p:nvPr>
        </p:nvPicPr>
        <p:blipFill>
          <a:blip r:embed="rId2"/>
          <a:srcRect/>
          <a:stretch>
            <a:fillRect/>
          </a:stretch>
        </p:blipFill>
        <p:spPr bwMode="auto">
          <a:xfrm>
            <a:off x="533400" y="2133600"/>
            <a:ext cx="8382000" cy="2018577"/>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609600" y="4343400"/>
            <a:ext cx="5257800" cy="190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4294967295"/>
          </p:nvPr>
        </p:nvPicPr>
        <p:blipFill>
          <a:blip r:embed="rId2"/>
          <a:srcRect/>
          <a:stretch>
            <a:fillRect/>
          </a:stretch>
        </p:blipFill>
        <p:spPr bwMode="auto">
          <a:xfrm>
            <a:off x="304800" y="1219200"/>
            <a:ext cx="8382000"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Function Composition</a:t>
            </a:r>
            <a:endParaRPr lang="en-US" b="1" u="sng" dirty="0"/>
          </a:p>
        </p:txBody>
      </p:sp>
      <p:pic>
        <p:nvPicPr>
          <p:cNvPr id="8194" name="Picture 2"/>
          <p:cNvPicPr>
            <a:picLocks noGrp="1" noChangeAspect="1" noChangeArrowheads="1"/>
          </p:cNvPicPr>
          <p:nvPr>
            <p:ph idx="1"/>
          </p:nvPr>
        </p:nvPicPr>
        <p:blipFill>
          <a:blip r:embed="rId2"/>
          <a:srcRect/>
          <a:stretch>
            <a:fillRect/>
          </a:stretch>
        </p:blipFill>
        <p:spPr bwMode="auto">
          <a:xfrm>
            <a:off x="457200" y="1905000"/>
            <a:ext cx="8305799"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t>Follow these instructions, and write the Python code(6.1)</a:t>
            </a:r>
            <a:endParaRPr lang="en-US" b="1" u="sng" dirty="0"/>
          </a:p>
        </p:txBody>
      </p:sp>
      <p:pic>
        <p:nvPicPr>
          <p:cNvPr id="9219" name="Picture 3"/>
          <p:cNvPicPr>
            <a:picLocks noGrp="1" noChangeAspect="1" noChangeArrowheads="1"/>
          </p:cNvPicPr>
          <p:nvPr>
            <p:ph idx="1"/>
          </p:nvPr>
        </p:nvPicPr>
        <p:blipFill>
          <a:blip r:embed="rId2"/>
          <a:srcRect/>
          <a:stretch>
            <a:fillRect/>
          </a:stretch>
        </p:blipFill>
        <p:spPr bwMode="auto">
          <a:xfrm>
            <a:off x="304800" y="2133600"/>
            <a:ext cx="8458200" cy="2577387"/>
          </a:xfrm>
          <a:prstGeom prst="rect">
            <a:avLst/>
          </a:prstGeom>
          <a:noFill/>
          <a:ln w="9525">
            <a:noFill/>
            <a:miter lim="800000"/>
            <a:headEnd/>
            <a:tailEnd/>
          </a:ln>
          <a:effectLst/>
        </p:spPr>
      </p:pic>
      <p:pic>
        <p:nvPicPr>
          <p:cNvPr id="9220" name="Picture 4"/>
          <p:cNvPicPr>
            <a:picLocks noChangeAspect="1" noChangeArrowheads="1"/>
          </p:cNvPicPr>
          <p:nvPr/>
        </p:nvPicPr>
        <p:blipFill>
          <a:blip r:embed="rId3"/>
          <a:srcRect/>
          <a:stretch>
            <a:fillRect/>
          </a:stretch>
        </p:blipFill>
        <p:spPr bwMode="auto">
          <a:xfrm>
            <a:off x="304800" y="4953000"/>
            <a:ext cx="3276600" cy="144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4294967295"/>
          </p:nvPr>
        </p:nvPicPr>
        <p:blipFill>
          <a:blip r:embed="rId2"/>
          <a:srcRect/>
          <a:stretch>
            <a:fillRect/>
          </a:stretch>
        </p:blipFill>
        <p:spPr bwMode="auto">
          <a:xfrm>
            <a:off x="381000" y="1143000"/>
            <a:ext cx="8305800"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Recursion</a:t>
            </a:r>
            <a:endParaRPr lang="en-US" b="1" u="sng" dirty="0"/>
          </a:p>
        </p:txBody>
      </p:sp>
      <p:pic>
        <p:nvPicPr>
          <p:cNvPr id="11266" name="Picture 2"/>
          <p:cNvPicPr>
            <a:picLocks noGrp="1" noChangeAspect="1" noChangeArrowheads="1"/>
          </p:cNvPicPr>
          <p:nvPr>
            <p:ph idx="1"/>
          </p:nvPr>
        </p:nvPicPr>
        <p:blipFill>
          <a:blip r:embed="rId2"/>
          <a:srcRect/>
          <a:stretch>
            <a:fillRect/>
          </a:stretch>
        </p:blipFill>
        <p:spPr bwMode="auto">
          <a:xfrm>
            <a:off x="304800" y="2209800"/>
            <a:ext cx="8534400"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12290" name="Picture 2"/>
          <p:cNvPicPr>
            <a:picLocks noGrp="1" noChangeAspect="1" noChangeArrowheads="1"/>
          </p:cNvPicPr>
          <p:nvPr>
            <p:ph idx="1"/>
          </p:nvPr>
        </p:nvPicPr>
        <p:blipFill>
          <a:blip r:embed="rId2"/>
          <a:srcRect/>
          <a:stretch>
            <a:fillRect/>
          </a:stretch>
        </p:blipFill>
        <p:spPr bwMode="auto">
          <a:xfrm>
            <a:off x="457200" y="2133600"/>
            <a:ext cx="81534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048512"/>
          </a:xfrm>
        </p:spPr>
        <p:txBody>
          <a:bodyPr/>
          <a:lstStyle/>
          <a:p>
            <a:pPr algn="ctr"/>
            <a:r>
              <a:rPr lang="en-US" b="1" u="sng" dirty="0" smtClean="0"/>
              <a:t>Select the correct option</a:t>
            </a:r>
            <a:endParaRPr lang="en-US" b="1" u="sng" dirty="0"/>
          </a:p>
        </p:txBody>
      </p:sp>
      <p:pic>
        <p:nvPicPr>
          <p:cNvPr id="13314" name="Picture 2"/>
          <p:cNvPicPr>
            <a:picLocks noGrp="1" noChangeAspect="1" noChangeArrowheads="1"/>
          </p:cNvPicPr>
          <p:nvPr>
            <p:ph idx="1"/>
          </p:nvPr>
        </p:nvPicPr>
        <p:blipFill>
          <a:blip r:embed="rId2"/>
          <a:srcRect/>
          <a:stretch>
            <a:fillRect/>
          </a:stretch>
        </p:blipFill>
        <p:spPr bwMode="auto">
          <a:xfrm>
            <a:off x="381000" y="1828801"/>
            <a:ext cx="8153400" cy="41587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Option 1,3 are correct.</a:t>
            </a:r>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Recursion</a:t>
            </a:r>
            <a:endParaRPr lang="en-US" b="1" dirty="0"/>
          </a:p>
        </p:txBody>
      </p:sp>
      <p:pic>
        <p:nvPicPr>
          <p:cNvPr id="14338" name="Picture 2"/>
          <p:cNvPicPr>
            <a:picLocks noGrp="1" noChangeAspect="1" noChangeArrowheads="1"/>
          </p:cNvPicPr>
          <p:nvPr>
            <p:ph idx="1"/>
          </p:nvPr>
        </p:nvPicPr>
        <p:blipFill>
          <a:blip r:embed="rId2"/>
          <a:srcRect/>
          <a:stretch>
            <a:fillRect/>
          </a:stretch>
        </p:blipFill>
        <p:spPr bwMode="auto">
          <a:xfrm>
            <a:off x="457200" y="2209800"/>
            <a:ext cx="830580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Important points:</a:t>
            </a:r>
            <a:endParaRPr lang="en-US" b="1" dirty="0"/>
          </a:p>
        </p:txBody>
      </p:sp>
      <p:pic>
        <p:nvPicPr>
          <p:cNvPr id="15362" name="Picture 2"/>
          <p:cNvPicPr>
            <a:picLocks noGrp="1" noChangeAspect="1" noChangeArrowheads="1"/>
          </p:cNvPicPr>
          <p:nvPr>
            <p:ph idx="1"/>
          </p:nvPr>
        </p:nvPicPr>
        <p:blipFill>
          <a:blip r:embed="rId2"/>
          <a:srcRect/>
          <a:stretch>
            <a:fillRect/>
          </a:stretch>
        </p:blipFill>
        <p:spPr bwMode="auto">
          <a:xfrm>
            <a:off x="457200" y="1981200"/>
            <a:ext cx="8229599" cy="4038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Select the correct option</a:t>
            </a:r>
            <a:endParaRPr lang="en-US" b="1" dirty="0"/>
          </a:p>
        </p:txBody>
      </p:sp>
      <p:pic>
        <p:nvPicPr>
          <p:cNvPr id="16386" name="Picture 2"/>
          <p:cNvPicPr>
            <a:picLocks noGrp="1" noChangeAspect="1" noChangeArrowheads="1"/>
          </p:cNvPicPr>
          <p:nvPr>
            <p:ph idx="1"/>
          </p:nvPr>
        </p:nvPicPr>
        <p:blipFill>
          <a:blip r:embed="rId2"/>
          <a:srcRect/>
          <a:stretch>
            <a:fillRect/>
          </a:stretch>
        </p:blipFill>
        <p:spPr bwMode="auto">
          <a:xfrm>
            <a:off x="533400" y="2133601"/>
            <a:ext cx="7924800" cy="30441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Option 2 is correct.</a:t>
            </a:r>
            <a:endParaRPr 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Problem statement(7.3)</a:t>
            </a:r>
            <a:endParaRPr lang="en-US" b="1" u="sng" dirty="0"/>
          </a:p>
        </p:txBody>
      </p:sp>
      <p:pic>
        <p:nvPicPr>
          <p:cNvPr id="17410" name="Picture 2"/>
          <p:cNvPicPr>
            <a:picLocks noGrp="1" noChangeAspect="1" noChangeArrowheads="1"/>
          </p:cNvPicPr>
          <p:nvPr>
            <p:ph idx="1"/>
          </p:nvPr>
        </p:nvPicPr>
        <p:blipFill>
          <a:blip r:embed="rId2"/>
          <a:srcRect/>
          <a:stretch>
            <a:fillRect/>
          </a:stretch>
        </p:blipFill>
        <p:spPr bwMode="auto">
          <a:xfrm>
            <a:off x="381000" y="1905000"/>
            <a:ext cx="8305800" cy="2971800"/>
          </a:xfrm>
          <a:prstGeom prst="rect">
            <a:avLst/>
          </a:prstGeom>
          <a:noFill/>
          <a:ln w="9525">
            <a:noFill/>
            <a:miter lim="800000"/>
            <a:headEnd/>
            <a:tailEnd/>
          </a:ln>
          <a:effectLst/>
        </p:spPr>
      </p:pic>
      <p:pic>
        <p:nvPicPr>
          <p:cNvPr id="17412" name="Picture 4"/>
          <p:cNvPicPr>
            <a:picLocks noChangeAspect="1" noChangeArrowheads="1"/>
          </p:cNvPicPr>
          <p:nvPr/>
        </p:nvPicPr>
        <p:blipFill>
          <a:blip r:embed="rId3"/>
          <a:srcRect/>
          <a:stretch>
            <a:fillRect/>
          </a:stretch>
        </p:blipFill>
        <p:spPr bwMode="auto">
          <a:xfrm>
            <a:off x="457200" y="5105400"/>
            <a:ext cx="2590800" cy="129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Grp="1" noChangeAspect="1" noChangeArrowheads="1"/>
          </p:cNvPicPr>
          <p:nvPr>
            <p:ph idx="4294967295"/>
          </p:nvPr>
        </p:nvPicPr>
        <p:blipFill>
          <a:blip r:embed="rId2"/>
          <a:srcRect/>
          <a:stretch>
            <a:fillRect/>
          </a:stretch>
        </p:blipFill>
        <p:spPr bwMode="auto">
          <a:xfrm>
            <a:off x="609600" y="1066800"/>
            <a:ext cx="7924800"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pPr algn="ctr"/>
            <a:r>
              <a:rPr lang="en-US" b="1" u="sng" dirty="0" smtClean="0"/>
              <a:t>Creation of Modules</a:t>
            </a:r>
            <a:endParaRPr lang="en-US" b="1" u="sng" dirty="0"/>
          </a:p>
        </p:txBody>
      </p:sp>
      <p:pic>
        <p:nvPicPr>
          <p:cNvPr id="19458" name="Picture 2"/>
          <p:cNvPicPr>
            <a:picLocks noGrp="1" noChangeAspect="1" noChangeArrowheads="1"/>
          </p:cNvPicPr>
          <p:nvPr>
            <p:ph idx="1"/>
          </p:nvPr>
        </p:nvPicPr>
        <p:blipFill>
          <a:blip r:embed="rId2"/>
          <a:srcRect/>
          <a:stretch>
            <a:fillRect/>
          </a:stretch>
        </p:blipFill>
        <p:spPr bwMode="auto">
          <a:xfrm>
            <a:off x="304800" y="1371600"/>
            <a:ext cx="8458200" cy="43729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Disadvantages of modules</a:t>
            </a:r>
            <a:endParaRPr lang="en-US" b="1" dirty="0"/>
          </a:p>
        </p:txBody>
      </p:sp>
      <p:pic>
        <p:nvPicPr>
          <p:cNvPr id="20482" name="Picture 2"/>
          <p:cNvPicPr>
            <a:picLocks noGrp="1" noChangeAspect="1" noChangeArrowheads="1"/>
          </p:cNvPicPr>
          <p:nvPr>
            <p:ph idx="1"/>
          </p:nvPr>
        </p:nvPicPr>
        <p:blipFill>
          <a:blip r:embed="rId2"/>
          <a:srcRect/>
          <a:stretch>
            <a:fillRect/>
          </a:stretch>
        </p:blipFill>
        <p:spPr bwMode="auto">
          <a:xfrm>
            <a:off x="457200" y="2286001"/>
            <a:ext cx="8077199" cy="1904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Select the correct option</a:t>
            </a:r>
            <a:endParaRPr lang="en-US" b="1" dirty="0"/>
          </a:p>
        </p:txBody>
      </p:sp>
      <p:pic>
        <p:nvPicPr>
          <p:cNvPr id="21506" name="Picture 2"/>
          <p:cNvPicPr>
            <a:picLocks noGrp="1" noChangeAspect="1" noChangeArrowheads="1"/>
          </p:cNvPicPr>
          <p:nvPr>
            <p:ph idx="1"/>
          </p:nvPr>
        </p:nvPicPr>
        <p:blipFill>
          <a:blip r:embed="rId2"/>
          <a:srcRect/>
          <a:stretch>
            <a:fillRect/>
          </a:stretch>
        </p:blipFill>
        <p:spPr bwMode="auto">
          <a:xfrm>
            <a:off x="457200" y="1981200"/>
            <a:ext cx="8077200" cy="3733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Option1,2,4 are correct.</a:t>
            </a: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Problem statement(9.3)</a:t>
            </a:r>
            <a:endParaRPr lang="en-US" b="1" dirty="0"/>
          </a:p>
        </p:txBody>
      </p:sp>
      <p:pic>
        <p:nvPicPr>
          <p:cNvPr id="22530" name="Picture 2"/>
          <p:cNvPicPr>
            <a:picLocks noGrp="1" noChangeAspect="1" noChangeArrowheads="1"/>
          </p:cNvPicPr>
          <p:nvPr>
            <p:ph idx="1"/>
          </p:nvPr>
        </p:nvPicPr>
        <p:blipFill>
          <a:blip r:embed="rId2"/>
          <a:srcRect/>
          <a:stretch>
            <a:fillRect/>
          </a:stretch>
        </p:blipFill>
        <p:spPr bwMode="auto">
          <a:xfrm>
            <a:off x="304800" y="2133600"/>
            <a:ext cx="8458200" cy="2925098"/>
          </a:xfrm>
          <a:prstGeom prst="rect">
            <a:avLst/>
          </a:prstGeom>
          <a:noFill/>
          <a:ln w="9525">
            <a:noFill/>
            <a:miter lim="800000"/>
            <a:headEnd/>
            <a:tailEnd/>
          </a:ln>
          <a:effectLst/>
        </p:spPr>
      </p:pic>
      <p:pic>
        <p:nvPicPr>
          <p:cNvPr id="22531" name="Picture 3"/>
          <p:cNvPicPr>
            <a:picLocks noChangeAspect="1" noChangeArrowheads="1"/>
          </p:cNvPicPr>
          <p:nvPr/>
        </p:nvPicPr>
        <p:blipFill>
          <a:blip r:embed="rId3"/>
          <a:srcRect/>
          <a:stretch>
            <a:fillRect/>
          </a:stretch>
        </p:blipFill>
        <p:spPr bwMode="auto">
          <a:xfrm>
            <a:off x="4953000" y="3657600"/>
            <a:ext cx="3657600" cy="1476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Grp="1" noChangeAspect="1" noChangeArrowheads="1"/>
          </p:cNvPicPr>
          <p:nvPr>
            <p:ph idx="4294967295"/>
          </p:nvPr>
        </p:nvPicPr>
        <p:blipFill>
          <a:blip r:embed="rId2"/>
          <a:srcRect/>
          <a:stretch>
            <a:fillRect/>
          </a:stretch>
        </p:blipFill>
        <p:spPr bwMode="auto">
          <a:xfrm>
            <a:off x="685800" y="1295400"/>
            <a:ext cx="76962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t>Import statement/ Importing a module(10.1)</a:t>
            </a:r>
            <a:endParaRPr lang="en-US" b="1" u="sng" dirty="0"/>
          </a:p>
        </p:txBody>
      </p:sp>
      <p:pic>
        <p:nvPicPr>
          <p:cNvPr id="1026" name="Picture 2"/>
          <p:cNvPicPr>
            <a:picLocks noGrp="1" noChangeAspect="1" noChangeArrowheads="1"/>
          </p:cNvPicPr>
          <p:nvPr>
            <p:ph idx="1"/>
          </p:nvPr>
        </p:nvPicPr>
        <p:blipFill>
          <a:blip r:embed="rId3"/>
          <a:srcRect/>
          <a:stretch>
            <a:fillRect/>
          </a:stretch>
        </p:blipFill>
        <p:spPr bwMode="auto">
          <a:xfrm>
            <a:off x="381000" y="1981200"/>
            <a:ext cx="8458200" cy="4419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4294967295"/>
          </p:nvPr>
        </p:nvPicPr>
        <p:blipFill>
          <a:blip r:embed="rId2"/>
          <a:srcRect/>
          <a:stretch>
            <a:fillRect/>
          </a:stretch>
        </p:blipFill>
        <p:spPr bwMode="auto">
          <a:xfrm>
            <a:off x="533400" y="1295400"/>
            <a:ext cx="8246327" cy="3886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457200"/>
            <a:ext cx="8229600" cy="591312"/>
          </a:xfrm>
        </p:spPr>
        <p:txBody>
          <a:bodyPr>
            <a:normAutofit fontScale="90000"/>
          </a:bodyPr>
          <a:lstStyle/>
          <a:p>
            <a:pPr algn="ctr"/>
            <a:r>
              <a:rPr lang="en-US" b="1" u="sng" dirty="0" smtClean="0"/>
              <a:t>Problem statement(10.2)</a:t>
            </a:r>
            <a:endParaRPr lang="en-US" b="1" u="sng" dirty="0"/>
          </a:p>
        </p:txBody>
      </p:sp>
      <p:pic>
        <p:nvPicPr>
          <p:cNvPr id="3074" name="Picture 2"/>
          <p:cNvPicPr>
            <a:picLocks noGrp="1" noChangeAspect="1" noChangeArrowheads="1"/>
          </p:cNvPicPr>
          <p:nvPr>
            <p:ph idx="1"/>
          </p:nvPr>
        </p:nvPicPr>
        <p:blipFill>
          <a:blip r:embed="rId2"/>
          <a:srcRect/>
          <a:stretch>
            <a:fillRect/>
          </a:stretch>
        </p:blipFill>
        <p:spPr bwMode="auto">
          <a:xfrm>
            <a:off x="381000" y="1295400"/>
            <a:ext cx="8153400" cy="3352799"/>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5257800" y="4419600"/>
            <a:ext cx="2971800" cy="213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4294967295"/>
          </p:nvPr>
        </p:nvPicPr>
        <p:blipFill>
          <a:blip r:embed="rId2"/>
          <a:srcRect/>
          <a:stretch>
            <a:fillRect/>
          </a:stretch>
        </p:blipFill>
        <p:spPr bwMode="auto">
          <a:xfrm>
            <a:off x="381000" y="1676399"/>
            <a:ext cx="8458200" cy="3013841"/>
          </a:xfrm>
          <a:prstGeom prst="rect">
            <a:avLst/>
          </a:prstGeom>
          <a:noFill/>
          <a:ln w="9525">
            <a:noFill/>
            <a:miter lim="800000"/>
            <a:headEnd/>
            <a:tailEnd/>
          </a:ln>
          <a:effec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Import using ‘as’ keyword</a:t>
            </a:r>
            <a:endParaRPr lang="en-US" b="1" u="sng" dirty="0"/>
          </a:p>
        </p:txBody>
      </p:sp>
      <p:pic>
        <p:nvPicPr>
          <p:cNvPr id="5122" name="Picture 2"/>
          <p:cNvPicPr>
            <a:picLocks noGrp="1" noChangeAspect="1" noChangeArrowheads="1"/>
          </p:cNvPicPr>
          <p:nvPr>
            <p:ph idx="1"/>
          </p:nvPr>
        </p:nvPicPr>
        <p:blipFill>
          <a:blip r:embed="rId2"/>
          <a:srcRect/>
          <a:stretch>
            <a:fillRect/>
          </a:stretch>
        </p:blipFill>
        <p:spPr bwMode="auto">
          <a:xfrm>
            <a:off x="609600" y="2057400"/>
            <a:ext cx="7848600" cy="4114800"/>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ustom 3">
      <a:dk1>
        <a:sysClr val="windowText" lastClr="000000"/>
      </a:dk1>
      <a:lt1>
        <a:srgbClr val="FFFFFF"/>
      </a:lt1>
      <a:dk2>
        <a:srgbClr val="04617B"/>
      </a:dk2>
      <a:lt2>
        <a:srgbClr val="DBF5F9"/>
      </a:lt2>
      <a:accent1>
        <a:srgbClr val="002060"/>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7455</TotalTime>
  <Words>678</Words>
  <Application>Microsoft Office PowerPoint</Application>
  <PresentationFormat>On-screen Show (4:3)</PresentationFormat>
  <Paragraphs>122</Paragraphs>
  <Slides>107</Slides>
  <Notes>1</Notes>
  <HiddenSlides>0</HiddenSlides>
  <MMClips>0</MMClips>
  <ScaleCrop>false</ScaleCrop>
  <HeadingPairs>
    <vt:vector size="4" baseType="variant">
      <vt:variant>
        <vt:lpstr>Theme</vt:lpstr>
      </vt:variant>
      <vt:variant>
        <vt:i4>1</vt:i4>
      </vt:variant>
      <vt:variant>
        <vt:lpstr>Slide Titles</vt:lpstr>
      </vt:variant>
      <vt:variant>
        <vt:i4>107</vt:i4>
      </vt:variant>
    </vt:vector>
  </HeadingPairs>
  <TitlesOfParts>
    <vt:vector size="108" baseType="lpstr">
      <vt:lpstr>Flow</vt:lpstr>
      <vt:lpstr>Functions in Python</vt:lpstr>
      <vt:lpstr>Syntax</vt:lpstr>
      <vt:lpstr>Contd…</vt:lpstr>
      <vt:lpstr>Contd…</vt:lpstr>
      <vt:lpstr>Select the correct option</vt:lpstr>
      <vt:lpstr>Contd…</vt:lpstr>
      <vt:lpstr>Contd…</vt:lpstr>
      <vt:lpstr>Example(1.4)</vt:lpstr>
      <vt:lpstr>Problem statement(1.3)</vt:lpstr>
      <vt:lpstr>Contd…</vt:lpstr>
      <vt:lpstr>Output:</vt:lpstr>
      <vt:lpstr>Understanding Docstring</vt:lpstr>
      <vt:lpstr>Features of docstring: </vt:lpstr>
      <vt:lpstr>Select the correct option:</vt:lpstr>
      <vt:lpstr>Contd…</vt:lpstr>
      <vt:lpstr>Return statement</vt:lpstr>
      <vt:lpstr>Features of Return statement</vt:lpstr>
      <vt:lpstr>Problem statement(1.8)</vt:lpstr>
      <vt:lpstr>Contd…</vt:lpstr>
      <vt:lpstr>Problem statement(1.9)</vt:lpstr>
      <vt:lpstr>Contd…  Sample Input &amp; Output</vt:lpstr>
      <vt:lpstr>Contd…</vt:lpstr>
      <vt:lpstr>Arguments</vt:lpstr>
      <vt:lpstr>Parameters</vt:lpstr>
      <vt:lpstr>Select the correct option: </vt:lpstr>
      <vt:lpstr>Slide 26</vt:lpstr>
      <vt:lpstr>Note: </vt:lpstr>
      <vt:lpstr>Problem statement(2.2)</vt:lpstr>
      <vt:lpstr>Contd…</vt:lpstr>
      <vt:lpstr>Example(2.3):  Write this function:</vt:lpstr>
      <vt:lpstr>Contd…</vt:lpstr>
      <vt:lpstr>Contd…</vt:lpstr>
      <vt:lpstr>Types of Arguments:</vt:lpstr>
      <vt:lpstr>Positional Arguments</vt:lpstr>
      <vt:lpstr>Keyword Arguments</vt:lpstr>
      <vt:lpstr>Select correct statements:</vt:lpstr>
      <vt:lpstr>Slide 37</vt:lpstr>
      <vt:lpstr>Write a program to print Pascal’s traingle as shown in the example: (using function)</vt:lpstr>
      <vt:lpstr>Contd…</vt:lpstr>
      <vt:lpstr>Contd…</vt:lpstr>
      <vt:lpstr>Steps:</vt:lpstr>
      <vt:lpstr>Contd…</vt:lpstr>
      <vt:lpstr>Contd…</vt:lpstr>
      <vt:lpstr>Contd…</vt:lpstr>
      <vt:lpstr>Default Arguments</vt:lpstr>
      <vt:lpstr>Contd… Key points:</vt:lpstr>
      <vt:lpstr>Problem statement(3.1)</vt:lpstr>
      <vt:lpstr>Contd…</vt:lpstr>
      <vt:lpstr>Problem statement(3.2)</vt:lpstr>
      <vt:lpstr>Contd…</vt:lpstr>
      <vt:lpstr>Select the correct statement</vt:lpstr>
      <vt:lpstr>Slide 52</vt:lpstr>
      <vt:lpstr>Problem statement(3.4)</vt:lpstr>
      <vt:lpstr>Contd…</vt:lpstr>
      <vt:lpstr>Contd…</vt:lpstr>
      <vt:lpstr>Arbitrary/ Variable Length Arguments:</vt:lpstr>
      <vt:lpstr>Select the correct statement:</vt:lpstr>
      <vt:lpstr>Slide 58</vt:lpstr>
      <vt:lpstr>Anonymous functions</vt:lpstr>
      <vt:lpstr>Features of Lambda Function</vt:lpstr>
      <vt:lpstr>Select the correct option:</vt:lpstr>
      <vt:lpstr>Slide 62</vt:lpstr>
      <vt:lpstr>Problem statement(4.2)</vt:lpstr>
      <vt:lpstr>Contd…</vt:lpstr>
      <vt:lpstr>Problem statement(4.3)</vt:lpstr>
      <vt:lpstr>Contd…</vt:lpstr>
      <vt:lpstr>Understanding Map Function</vt:lpstr>
      <vt:lpstr>Problem statement (4.4)</vt:lpstr>
      <vt:lpstr>Contd…</vt:lpstr>
      <vt:lpstr>Filter Function:-</vt:lpstr>
      <vt:lpstr>Contd…</vt:lpstr>
      <vt:lpstr>Problem statement(4.5)</vt:lpstr>
      <vt:lpstr>Contd…</vt:lpstr>
      <vt:lpstr>Fruitful Function</vt:lpstr>
      <vt:lpstr>Select the correct option:</vt:lpstr>
      <vt:lpstr>Slide 76</vt:lpstr>
      <vt:lpstr>Local Variables</vt:lpstr>
      <vt:lpstr>Problem statement(6.1)</vt:lpstr>
      <vt:lpstr>Slide 79</vt:lpstr>
      <vt:lpstr>Global Variables</vt:lpstr>
      <vt:lpstr>Example</vt:lpstr>
      <vt:lpstr>Follow these instructions and write the Python code(6.2)</vt:lpstr>
      <vt:lpstr>Slide 83</vt:lpstr>
      <vt:lpstr>Function Composition</vt:lpstr>
      <vt:lpstr>Follow these instructions, and write the Python code(6.1)</vt:lpstr>
      <vt:lpstr>Slide 86</vt:lpstr>
      <vt:lpstr>Recursion</vt:lpstr>
      <vt:lpstr>Contd…</vt:lpstr>
      <vt:lpstr>Select the correct option</vt:lpstr>
      <vt:lpstr>Slide 90</vt:lpstr>
      <vt:lpstr>Types of Recursion</vt:lpstr>
      <vt:lpstr>Important points:</vt:lpstr>
      <vt:lpstr>Select the correct option</vt:lpstr>
      <vt:lpstr>Slide 94</vt:lpstr>
      <vt:lpstr>Problem statement(7.3)</vt:lpstr>
      <vt:lpstr>Slide 96</vt:lpstr>
      <vt:lpstr>Creation of Modules</vt:lpstr>
      <vt:lpstr>Disadvantages of modules</vt:lpstr>
      <vt:lpstr>Select the correct option</vt:lpstr>
      <vt:lpstr>Slide 100</vt:lpstr>
      <vt:lpstr>Problem statement(9.3)</vt:lpstr>
      <vt:lpstr>Slide 102</vt:lpstr>
      <vt:lpstr>Import statement/ Importing a module(10.1)</vt:lpstr>
      <vt:lpstr>Slide 104</vt:lpstr>
      <vt:lpstr>Problem statement(10.2)</vt:lpstr>
      <vt:lpstr>Slide 106</vt:lpstr>
      <vt:lpstr>Import using ‘as’ keyword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Variables in Python</dc:title>
  <dc:creator>ADMIN</dc:creator>
  <cp:lastModifiedBy>ADMIN</cp:lastModifiedBy>
  <cp:revision>124</cp:revision>
  <dcterms:created xsi:type="dcterms:W3CDTF">2023-09-30T10:15:39Z</dcterms:created>
  <dcterms:modified xsi:type="dcterms:W3CDTF">2023-10-21T03:54:24Z</dcterms:modified>
</cp:coreProperties>
</file>